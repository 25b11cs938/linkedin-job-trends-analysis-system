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21"/>
  </p:notesMasterIdLst>
  <p:handoutMasterIdLst>
    <p:handoutMasterId r:id="rId22"/>
  </p:handoutMasterIdLst>
  <p:sldIdLst>
    <p:sldId id="256" r:id="rId2"/>
    <p:sldId id="258" r:id="rId3"/>
    <p:sldId id="259" r:id="rId4"/>
    <p:sldId id="260" r:id="rId5"/>
    <p:sldId id="261" r:id="rId6"/>
    <p:sldId id="582" r:id="rId7"/>
    <p:sldId id="583" r:id="rId8"/>
    <p:sldId id="584" r:id="rId9"/>
    <p:sldId id="585" r:id="rId10"/>
    <p:sldId id="586" r:id="rId11"/>
    <p:sldId id="587" r:id="rId12"/>
    <p:sldId id="588" r:id="rId13"/>
    <p:sldId id="589" r:id="rId14"/>
    <p:sldId id="590" r:id="rId15"/>
    <p:sldId id="591" r:id="rId16"/>
    <p:sldId id="598" r:id="rId17"/>
    <p:sldId id="599" r:id="rId18"/>
    <p:sldId id="601" r:id="rId19"/>
    <p:sldId id="293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2" autoAdjust="0"/>
  </p:normalViewPr>
  <p:slideViewPr>
    <p:cSldViewPr>
      <p:cViewPr varScale="1">
        <p:scale>
          <a:sx n="48" d="100"/>
          <a:sy n="48" d="100"/>
        </p:scale>
        <p:origin x="96" y="70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886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2DB80D-D8DC-40C9-8603-2D92EB853E85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72EF51-F63D-488E-9B3C-4A470AE4E6F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EF2DC9-9E6B-4115-80F7-AF3C0B919820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B36BD8-3BE0-4B04-B520-77C1F1F1FB7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63493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B36BD8-3BE0-4B04-B520-77C1F1F1FB7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9487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854199"/>
            <a:ext cx="9144000" cy="16557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25AD38-0796-B4A0-F437-8C37B4D1B9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7608" y="592088"/>
            <a:ext cx="7609140" cy="1008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810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9085" y="1561876"/>
            <a:ext cx="10515600" cy="4531419"/>
          </a:xfrm>
        </p:spPr>
        <p:txBody>
          <a:bodyPr/>
          <a:lstStyle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C8CBE8F9-096B-48BD-AF91-C68E84B4AE0C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95400" y="6278770"/>
            <a:ext cx="1656183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368060C-F3A5-4600-9262-589A0797613D}" type="datetime1">
              <a:rPr lang="en-IN" smtClean="0"/>
              <a:pPr/>
              <a:t>30-10-2026</a:t>
            </a:fld>
            <a:endParaRPr lang="en-US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9B80BD04-4FB9-48ED-8F04-82E1E9B47D6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Course Name                                                                Faculty Name, Designation, Dept.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51A2048-2A34-7FBF-43D5-D3D3725F2AF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709" y="-243408"/>
            <a:ext cx="324964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504257EF-5910-55BD-B426-CB8A9D6AA20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56350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776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69367759-B4C6-4477-29E7-48E08870C81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0709" y="-243408"/>
            <a:ext cx="3249644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DBBF301A-453A-BED0-C53C-37286AA00C5A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95400" y="6278770"/>
            <a:ext cx="1656183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368060C-F3A5-4600-9262-589A0797613D}" type="datetime1">
              <a:rPr lang="en-IN" smtClean="0"/>
              <a:pPr/>
              <a:t>30-10-2026</a:t>
            </a:fld>
            <a:endParaRPr lang="en-US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1BBB8F58-91C5-AB5A-807E-19452F65565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Data Science                                                                K </a:t>
            </a:r>
            <a:r>
              <a:rPr lang="en-US" err="1"/>
              <a:t>Vydehi</a:t>
            </a:r>
            <a:r>
              <a:rPr lang="en-US"/>
              <a:t>, </a:t>
            </a:r>
            <a:r>
              <a:rPr lang="en-US" err="1"/>
              <a:t>Asst</a:t>
            </a:r>
            <a:r>
              <a:rPr lang="en-US"/>
              <a:t> Professor, CSE Dept.</a:t>
            </a: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119C11AA-4309-9F6B-48A3-24FE199327D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56350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079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3AD86-BCE5-402A-9A63-AC164DC60237}" type="datetime1">
              <a:rPr lang="en-IN" smtClean="0"/>
              <a:pPr/>
              <a:t>30-10-2026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Course Name                                                                Faculty Name, Designation, Dept.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6EF2E3-409D-4D76-AD02-397A36B0DAF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235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9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767408" y="1162994"/>
            <a:ext cx="11272676" cy="242889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 defTabSz="914400">
              <a:lnSpc>
                <a:spcPct val="90000"/>
              </a:lnSpc>
              <a:spcBef>
                <a:spcPct val="0"/>
              </a:spcBef>
              <a:defRPr/>
            </a:pPr>
            <a:r>
              <a:rPr sz="3600" b="1">
                <a:solidFill>
                  <a:srgbClr val="1B5E83"/>
                </a:solidFill>
              </a:rPr>
              <a:t>DAE PROJECT</a:t>
            </a:r>
            <a:r>
              <a:rPr sz="2600" b="1">
                <a:solidFill>
                  <a:srgbClr val="1B5E83"/>
                </a:solidFill>
              </a:rPr>
              <a:t>:</a:t>
            </a:r>
            <a:r>
              <a:rPr lang="en-IN" sz="4400">
                <a:latin typeface="Tw Cen MT" pitchFamily="34" charset="0"/>
                <a:ea typeface="+mj-ea"/>
                <a:cs typeface="+mj-cs"/>
              </a:rPr>
              <a:t> </a:t>
            </a:r>
            <a:r>
              <a:rPr lang="da-DK" sz="3800">
                <a:solidFill>
                  <a:srgbClr val="1B5E83"/>
                </a:solidFill>
              </a:rPr>
              <a:t>LINKEDIN JOB TRENDS ANALYSIS SYSTEM</a:t>
            </a:r>
            <a:endParaRPr sz="3800" b="0">
              <a:solidFill>
                <a:srgbClr val="1B5E83"/>
              </a:solidFill>
            </a:endParaRPr>
          </a:p>
        </p:txBody>
      </p:sp>
      <p:sp>
        <p:nvSpPr>
          <p:cNvPr id="21" name="Team card"/>
          <p:cNvSpPr/>
          <p:nvPr/>
        </p:nvSpPr>
        <p:spPr>
          <a:xfrm>
            <a:off x="2438400" y="4480560"/>
            <a:ext cx="7315200" cy="1600200"/>
          </a:xfrm>
          <a:prstGeom prst="rect">
            <a:avLst/>
          </a:prstGeom>
          <a:solidFill>
            <a:srgbClr val="F1F5F9"/>
          </a:solidFill>
          <a:ln w="12700">
            <a:solidFill>
              <a:srgbClr val="1B5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82880" bIns="91440" rtlCol="0" anchor="ctr">
            <a:noAutofit/>
          </a:bodyPr>
          <a:lstStyle/>
          <a:p>
            <a:endParaRPr lang="en-IN"/>
          </a:p>
        </p:txBody>
      </p:sp>
      <p:sp>
        <p:nvSpPr>
          <p:cNvPr id="22" name="Team heading"/>
          <p:cNvSpPr txBox="1"/>
          <p:nvPr/>
        </p:nvSpPr>
        <p:spPr>
          <a:xfrm>
            <a:off x="2438400" y="457200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wrap="square" lIns="182880" tIns="91440" rIns="182880" bIns="9144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en-IN" sz="1800" b="1">
                <a:solidFill>
                  <a:srgbClr val="1B5E83"/>
                </a:solidFill>
              </a:rPr>
              <a:t>TEAM MEMBERS </a:t>
            </a:r>
            <a:r>
              <a:rPr lang="en-IN" sz="1800" b="1" dirty="0">
                <a:solidFill>
                  <a:srgbClr val="1B5E83"/>
                </a:solidFill>
              </a:rPr>
              <a:t>:</a:t>
            </a:r>
          </a:p>
        </p:txBody>
      </p:sp>
      <p:sp>
        <p:nvSpPr>
          <p:cNvPr id="23" name="Team left"/>
          <p:cNvSpPr txBox="1"/>
          <p:nvPr/>
        </p:nvSpPr>
        <p:spPr>
          <a:xfrm>
            <a:off x="2804160" y="5029200"/>
            <a:ext cx="3291840" cy="1143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91440" rIns="182880" bIns="91440" rtlCol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lang="en-IN" sz="1800" b="0" dirty="0">
                <a:solidFill>
                  <a:srgbClr val="1F2937"/>
                </a:solidFill>
              </a:rPr>
              <a:t>Pramodh (25B11CS938)</a:t>
            </a:r>
          </a:p>
          <a:p>
            <a:pPr algn="l">
              <a:spcAft>
                <a:spcPts val="0"/>
              </a:spcAft>
            </a:pPr>
            <a:r>
              <a:rPr lang="en-IN" sz="1800" b="0" dirty="0">
                <a:solidFill>
                  <a:srgbClr val="1F2937"/>
                </a:solidFill>
              </a:rPr>
              <a:t>Kiran (25B11CS595)</a:t>
            </a:r>
          </a:p>
        </p:txBody>
      </p:sp>
      <p:sp>
        <p:nvSpPr>
          <p:cNvPr id="24" name="Team right"/>
          <p:cNvSpPr txBox="1"/>
          <p:nvPr/>
        </p:nvSpPr>
        <p:spPr>
          <a:xfrm>
            <a:off x="6096000" y="5029200"/>
            <a:ext cx="3291840" cy="1143000"/>
          </a:xfrm>
          <a:prstGeom prst="rect">
            <a:avLst/>
          </a:prstGeom>
          <a:noFill/>
          <a:ln>
            <a:noFill/>
          </a:ln>
        </p:spPr>
        <p:txBody>
          <a:bodyPr wrap="square" lIns="182880" tIns="91440" rIns="182880" bIns="91440" rtlCol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lang="en-IN" sz="1800" b="0" dirty="0">
                <a:solidFill>
                  <a:srgbClr val="1F2937"/>
                </a:solidFill>
              </a:rPr>
              <a:t>Rupa (25B11CS125)</a:t>
            </a:r>
          </a:p>
          <a:p>
            <a:pPr algn="l">
              <a:spcAft>
                <a:spcPts val="0"/>
              </a:spcAft>
            </a:pPr>
            <a:r>
              <a:rPr lang="en-IN" sz="1800" b="0" dirty="0">
                <a:solidFill>
                  <a:srgbClr val="1F2937"/>
                </a:solidFill>
              </a:rPr>
              <a:t>Karishma (25B11CS360)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31520" y="91440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en-IN" sz="3200" b="1" dirty="0">
                <a:solidFill>
                  <a:srgbClr val="1B5E83"/>
                </a:solidFill>
              </a:rPr>
              <a:t>Introduction:</a:t>
            </a:r>
          </a:p>
        </p:txBody>
      </p:sp>
      <p:sp>
        <p:nvSpPr>
          <p:cNvPr id="3" name="Card 1"/>
          <p:cNvSpPr/>
          <p:nvPr/>
        </p:nvSpPr>
        <p:spPr>
          <a:xfrm>
            <a:off x="731520" y="1737360"/>
            <a:ext cx="5212080" cy="2057400"/>
          </a:xfrm>
          <a:prstGeom prst="rect">
            <a:avLst/>
          </a:prstGeom>
          <a:solidFill>
            <a:srgbClr val="F1F5F9"/>
          </a:solidFill>
          <a:ln w="12700">
            <a:solidFill>
              <a:srgbClr val="1B5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82880" bIns="91440" rtlCol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en-IN" sz="1800" b="1" dirty="0">
                <a:solidFill>
                  <a:srgbClr val="1B5E83"/>
                </a:solidFill>
              </a:rPr>
              <a:t>What is the project about?</a:t>
            </a:r>
          </a:p>
          <a:p>
            <a:pPr algn="l">
              <a:spcAft>
                <a:spcPts val="0"/>
              </a:spcAft>
            </a:pPr>
            <a:r>
              <a:rPr lang="en-IN" sz="1800" b="0" dirty="0">
                <a:solidFill>
                  <a:srgbClr val="1F2937"/>
                </a:solidFill>
              </a:rPr>
              <a:t>A data analytics system that mines LinkedIn (social media) job-posting data to uncover hiring trends, in-demand skills, salary patterns, and industry demand using Python's data science stack.</a:t>
            </a:r>
          </a:p>
        </p:txBody>
      </p:sp>
      <p:sp>
        <p:nvSpPr>
          <p:cNvPr id="4" name="Card 2"/>
          <p:cNvSpPr/>
          <p:nvPr/>
        </p:nvSpPr>
        <p:spPr>
          <a:xfrm>
            <a:off x="6217920" y="1737360"/>
            <a:ext cx="5212080" cy="2057400"/>
          </a:xfrm>
          <a:prstGeom prst="rect">
            <a:avLst/>
          </a:prstGeom>
          <a:solidFill>
            <a:srgbClr val="F1F5F9"/>
          </a:solidFill>
          <a:ln w="12700">
            <a:solidFill>
              <a:srgbClr val="1B5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82880" bIns="91440" rtlCol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en-IN" sz="1800" b="1" dirty="0">
                <a:solidFill>
                  <a:srgbClr val="1B5E83"/>
                </a:solidFill>
              </a:rPr>
              <a:t>Application/domain:</a:t>
            </a:r>
          </a:p>
          <a:p>
            <a:pPr algn="l">
              <a:spcAft>
                <a:spcPts val="0"/>
              </a:spcAft>
            </a:pPr>
            <a:r>
              <a:rPr lang="en-IN" sz="1800" b="0" dirty="0">
                <a:solidFill>
                  <a:srgbClr val="1F2937"/>
                </a:solidFill>
              </a:rPr>
              <a:t>Social media analytics applied to the HR-tech / career-intelligence domain.</a:t>
            </a:r>
          </a:p>
        </p:txBody>
      </p:sp>
      <p:sp>
        <p:nvSpPr>
          <p:cNvPr id="5" name="Card 3"/>
          <p:cNvSpPr/>
          <p:nvPr/>
        </p:nvSpPr>
        <p:spPr>
          <a:xfrm>
            <a:off x="731520" y="3977640"/>
            <a:ext cx="5212080" cy="2057400"/>
          </a:xfrm>
          <a:prstGeom prst="rect">
            <a:avLst/>
          </a:prstGeom>
          <a:solidFill>
            <a:srgbClr val="F1F5F9"/>
          </a:solidFill>
          <a:ln w="12700">
            <a:solidFill>
              <a:srgbClr val="1B5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82880" bIns="91440" rtlCol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en-IN" sz="1800" b="1" dirty="0">
                <a:solidFill>
                  <a:srgbClr val="1B5E83"/>
                </a:solidFill>
              </a:rPr>
              <a:t>Why important?</a:t>
            </a:r>
          </a:p>
          <a:p>
            <a:pPr algn="l">
              <a:spcAft>
                <a:spcPts val="0"/>
              </a:spcAft>
            </a:pPr>
            <a:r>
              <a:rPr lang="en-IN" sz="1800" b="0" dirty="0">
                <a:solidFill>
                  <a:srgbClr val="1F2937"/>
                </a:solidFill>
              </a:rPr>
              <a:t>LinkedIn generates massive real-time data on hiring activity; analyzing it reveals what skills, roles, and industries are trending — valuable for job-seekers, recruiters, and policymakers.</a:t>
            </a:r>
          </a:p>
        </p:txBody>
      </p:sp>
      <p:sp>
        <p:nvSpPr>
          <p:cNvPr id="6" name="Card 4"/>
          <p:cNvSpPr/>
          <p:nvPr/>
        </p:nvSpPr>
        <p:spPr>
          <a:xfrm>
            <a:off x="6217920" y="3977640"/>
            <a:ext cx="5212080" cy="2057400"/>
          </a:xfrm>
          <a:prstGeom prst="rect">
            <a:avLst/>
          </a:prstGeom>
          <a:solidFill>
            <a:srgbClr val="F1F5F9"/>
          </a:solidFill>
          <a:ln w="12700">
            <a:solidFill>
              <a:srgbClr val="1B5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82880" bIns="91440" rtlCol="0" anchor="t">
            <a:noAutofit/>
          </a:bodyPr>
          <a:lstStyle/>
          <a:p>
            <a:pPr algn="l">
              <a:spcAft>
                <a:spcPts val="400"/>
              </a:spcAft>
            </a:pPr>
            <a:r>
              <a:rPr lang="en-IN" sz="1800" b="1" dirty="0">
                <a:solidFill>
                  <a:srgbClr val="1B5E83"/>
                </a:solidFill>
              </a:rPr>
              <a:t>Motivation:</a:t>
            </a:r>
          </a:p>
          <a:p>
            <a:pPr algn="l">
              <a:spcAft>
                <a:spcPts val="0"/>
              </a:spcAft>
            </a:pPr>
            <a:r>
              <a:rPr lang="en-IN" sz="1800" b="0" dirty="0">
                <a:solidFill>
                  <a:srgbClr val="1F2937"/>
                </a:solidFill>
              </a:rPr>
              <a:t>Growing gap between skills taught and skills demanded in the market; students and job-seekers lack a data-driven way to see what employers actually want, in real time, from social/professional media.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31520" y="91440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en-IN" sz="3200" b="1" dirty="0">
                <a:solidFill>
                  <a:srgbClr val="1B5E83"/>
                </a:solidFill>
              </a:rPr>
              <a:t>Problem Definition :</a:t>
            </a:r>
          </a:p>
        </p:txBody>
      </p:sp>
      <p:sp>
        <p:nvSpPr>
          <p:cNvPr id="3" name="Row 1 body"/>
          <p:cNvSpPr/>
          <p:nvPr/>
        </p:nvSpPr>
        <p:spPr>
          <a:xfrm>
            <a:off x="731520" y="1783080"/>
            <a:ext cx="10698480" cy="731520"/>
          </a:xfrm>
          <a:prstGeom prst="rect">
            <a:avLst/>
          </a:prstGeom>
          <a:solidFill>
            <a:srgbClr val="F1F5F9"/>
          </a:solidFill>
          <a:ln w="12700">
            <a:solidFill>
              <a:srgbClr val="1B5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468880" tIns="45720" rIns="182880" bIns="45720" rtlCol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en-IN" sz="1800" b="0" dirty="0">
                <a:solidFill>
                  <a:srgbClr val="1F2937"/>
                </a:solidFill>
              </a:rPr>
              <a:t>LinkedIn data is scattered/unstructured — trends invisible at a glance.</a:t>
            </a:r>
          </a:p>
        </p:txBody>
      </p:sp>
      <p:sp>
        <p:nvSpPr>
          <p:cNvPr id="4" name="Row 1 label"/>
          <p:cNvSpPr/>
          <p:nvPr/>
        </p:nvSpPr>
        <p:spPr>
          <a:xfrm>
            <a:off x="731520" y="1783080"/>
            <a:ext cx="2286000" cy="731520"/>
          </a:xfrm>
          <a:prstGeom prst="rect">
            <a:avLst/>
          </a:prstGeom>
          <a:solidFill>
            <a:srgbClr val="1B5E83"/>
          </a:solidFill>
          <a:ln w="12700">
            <a:solidFill>
              <a:srgbClr val="1B5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82880" bIns="91440" rtlCol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en-IN" sz="2000" b="1" dirty="0">
                <a:solidFill>
                  <a:srgbClr val="FFFFFF"/>
                </a:solidFill>
              </a:rPr>
              <a:t>Problem:</a:t>
            </a:r>
          </a:p>
        </p:txBody>
      </p:sp>
      <p:sp>
        <p:nvSpPr>
          <p:cNvPr id="5" name="Row 2 body"/>
          <p:cNvSpPr/>
          <p:nvPr/>
        </p:nvSpPr>
        <p:spPr>
          <a:xfrm>
            <a:off x="731520" y="2651760"/>
            <a:ext cx="10698480" cy="731520"/>
          </a:xfrm>
          <a:prstGeom prst="rect">
            <a:avLst/>
          </a:prstGeom>
          <a:solidFill>
            <a:srgbClr val="F1F5F9"/>
          </a:solidFill>
          <a:ln w="12700">
            <a:solidFill>
              <a:srgbClr val="1B5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468880" tIns="45720" rIns="182880" bIns="45720" rtlCol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en-IN" sz="1800" b="0" dirty="0">
                <a:solidFill>
                  <a:srgbClr val="1F2937"/>
                </a:solidFill>
              </a:rPr>
              <a:t>Manual tracking of skills/salaries is slow, unreliable.</a:t>
            </a:r>
          </a:p>
        </p:txBody>
      </p:sp>
      <p:sp>
        <p:nvSpPr>
          <p:cNvPr id="6" name="Row 2 label"/>
          <p:cNvSpPr/>
          <p:nvPr/>
        </p:nvSpPr>
        <p:spPr>
          <a:xfrm>
            <a:off x="731520" y="2651760"/>
            <a:ext cx="2286000" cy="731520"/>
          </a:xfrm>
          <a:prstGeom prst="rect">
            <a:avLst/>
          </a:prstGeom>
          <a:solidFill>
            <a:srgbClr val="1B5E83"/>
          </a:solidFill>
          <a:ln w="12700">
            <a:solidFill>
              <a:srgbClr val="1B5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82880" bIns="91440" rtlCol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en-IN" sz="2000" b="1" dirty="0">
                <a:solidFill>
                  <a:srgbClr val="FFFFFF"/>
                </a:solidFill>
              </a:rPr>
              <a:t>Difficulty:</a:t>
            </a:r>
          </a:p>
        </p:txBody>
      </p:sp>
      <p:sp>
        <p:nvSpPr>
          <p:cNvPr id="7" name="Row 3 body"/>
          <p:cNvSpPr/>
          <p:nvPr/>
        </p:nvSpPr>
        <p:spPr>
          <a:xfrm>
            <a:off x="731520" y="3520440"/>
            <a:ext cx="10698480" cy="731520"/>
          </a:xfrm>
          <a:prstGeom prst="rect">
            <a:avLst/>
          </a:prstGeom>
          <a:solidFill>
            <a:srgbClr val="F1F5F9"/>
          </a:solidFill>
          <a:ln w="12700">
            <a:solidFill>
              <a:srgbClr val="1B5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468880" tIns="45720" rIns="182880" bIns="45720" rtlCol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en-IN" sz="1800" b="0" dirty="0">
                <a:solidFill>
                  <a:srgbClr val="1F2937"/>
                </a:solidFill>
              </a:rPr>
              <a:t>Skill mismatch wastes time; roles stay unfilled.</a:t>
            </a:r>
          </a:p>
        </p:txBody>
      </p:sp>
      <p:sp>
        <p:nvSpPr>
          <p:cNvPr id="8" name="Row 3 label"/>
          <p:cNvSpPr/>
          <p:nvPr/>
        </p:nvSpPr>
        <p:spPr>
          <a:xfrm>
            <a:off x="731520" y="3520440"/>
            <a:ext cx="2286000" cy="731520"/>
          </a:xfrm>
          <a:prstGeom prst="rect">
            <a:avLst/>
          </a:prstGeom>
          <a:solidFill>
            <a:srgbClr val="1B5E83"/>
          </a:solidFill>
          <a:ln w="12700">
            <a:solidFill>
              <a:srgbClr val="1B5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82880" bIns="91440" rtlCol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en-IN" sz="2000" b="1" dirty="0">
                <a:solidFill>
                  <a:srgbClr val="FFFFFF"/>
                </a:solidFill>
              </a:rPr>
              <a:t>Impact:</a:t>
            </a:r>
          </a:p>
        </p:txBody>
      </p:sp>
      <p:sp>
        <p:nvSpPr>
          <p:cNvPr id="9" name="Row 4 body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solidFill>
            <a:srgbClr val="F1F5F9"/>
          </a:solidFill>
          <a:ln w="12700">
            <a:solidFill>
              <a:srgbClr val="1B5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468880" tIns="45720" rIns="182880" bIns="45720" rtlCol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en-IN" sz="1800" b="0" dirty="0">
                <a:solidFill>
                  <a:srgbClr val="1F2937"/>
                </a:solidFill>
              </a:rPr>
              <a:t>Job seekers, students, recruiters, institutes.</a:t>
            </a:r>
          </a:p>
        </p:txBody>
      </p:sp>
      <p:sp>
        <p:nvSpPr>
          <p:cNvPr id="10" name="Row 4 label"/>
          <p:cNvSpPr/>
          <p:nvPr/>
        </p:nvSpPr>
        <p:spPr>
          <a:xfrm>
            <a:off x="731520" y="4389120"/>
            <a:ext cx="2286000" cy="731520"/>
          </a:xfrm>
          <a:prstGeom prst="rect">
            <a:avLst/>
          </a:prstGeom>
          <a:solidFill>
            <a:srgbClr val="1B5E83"/>
          </a:solidFill>
          <a:ln w="12700">
            <a:solidFill>
              <a:srgbClr val="1B5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82880" bIns="91440" rtlCol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en-IN" sz="2000" b="1" dirty="0">
                <a:solidFill>
                  <a:srgbClr val="FFFFFF"/>
                </a:solidFill>
              </a:rPr>
              <a:t>Affected:</a:t>
            </a:r>
          </a:p>
        </p:txBody>
      </p:sp>
      <p:sp>
        <p:nvSpPr>
          <p:cNvPr id="11" name="Row 5 body"/>
          <p:cNvSpPr/>
          <p:nvPr/>
        </p:nvSpPr>
        <p:spPr>
          <a:xfrm>
            <a:off x="731520" y="5257800"/>
            <a:ext cx="10698480" cy="731520"/>
          </a:xfrm>
          <a:prstGeom prst="rect">
            <a:avLst/>
          </a:prstGeom>
          <a:solidFill>
            <a:srgbClr val="F1F5F9"/>
          </a:solidFill>
          <a:ln w="12700">
            <a:solidFill>
              <a:srgbClr val="1B5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468880" tIns="45720" rIns="182880" bIns="45720" rtlCol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en-IN" sz="1800" b="0" dirty="0">
                <a:solidFill>
                  <a:srgbClr val="1F2937"/>
                </a:solidFill>
              </a:rPr>
              <a:t>Automated pipeline for cleaning, aggregating, visualizing trends.</a:t>
            </a:r>
          </a:p>
        </p:txBody>
      </p:sp>
      <p:sp>
        <p:nvSpPr>
          <p:cNvPr id="12" name="Row 5 label"/>
          <p:cNvSpPr/>
          <p:nvPr/>
        </p:nvSpPr>
        <p:spPr>
          <a:xfrm>
            <a:off x="731520" y="5257800"/>
            <a:ext cx="2286000" cy="731520"/>
          </a:xfrm>
          <a:prstGeom prst="rect">
            <a:avLst/>
          </a:prstGeom>
          <a:solidFill>
            <a:srgbClr val="1B5E83"/>
          </a:solidFill>
          <a:ln w="12700">
            <a:solidFill>
              <a:srgbClr val="1B5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82880" bIns="91440" rtlCol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en-IN" sz="2000" b="1" dirty="0">
                <a:solidFill>
                  <a:srgbClr val="FFFFFF"/>
                </a:solidFill>
              </a:rPr>
              <a:t>Need: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31520" y="91440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en-IN" sz="3200" b="1" dirty="0">
                <a:solidFill>
                  <a:srgbClr val="1B5E83"/>
                </a:solidFill>
              </a:rPr>
              <a:t>Proposed Solution:</a:t>
            </a:r>
          </a:p>
        </p:txBody>
      </p:sp>
      <p:sp>
        <p:nvSpPr>
          <p:cNvPr id="3" name="Functions"/>
          <p:cNvSpPr/>
          <p:nvPr/>
        </p:nvSpPr>
        <p:spPr>
          <a:xfrm>
            <a:off x="731520" y="1737360"/>
            <a:ext cx="521208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1B5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82880" bIns="91440" rtlCol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lang="en-IN" sz="1800" b="1" dirty="0">
                <a:solidFill>
                  <a:srgbClr val="1B5E83"/>
                </a:solidFill>
              </a:rPr>
              <a:t>Functions:</a:t>
            </a:r>
          </a:p>
          <a:p>
            <a:pPr algn="l">
              <a:spcAft>
                <a:spcPts val="0"/>
              </a:spcAft>
            </a:pPr>
            <a:r>
              <a:rPr lang="en-IN" sz="1800" b="0" dirty="0">
                <a:solidFill>
                  <a:srgbClr val="1F2937"/>
                </a:solidFill>
              </a:rPr>
              <a:t>Cleaning, skill-trend analysis, salary/industry analytics, dashboards.</a:t>
            </a:r>
          </a:p>
        </p:txBody>
      </p:sp>
      <p:sp>
        <p:nvSpPr>
          <p:cNvPr id="4" name="Users"/>
          <p:cNvSpPr/>
          <p:nvPr/>
        </p:nvSpPr>
        <p:spPr>
          <a:xfrm>
            <a:off x="6217920" y="1737360"/>
            <a:ext cx="521208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1B5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82880" bIns="91440" rtlCol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lang="en-IN" sz="1800" b="1" dirty="0">
                <a:solidFill>
                  <a:srgbClr val="1B5E83"/>
                </a:solidFill>
              </a:rPr>
              <a:t>Users:</a:t>
            </a:r>
          </a:p>
          <a:p>
            <a:pPr algn="l">
              <a:spcAft>
                <a:spcPts val="0"/>
              </a:spcAft>
            </a:pPr>
            <a:r>
              <a:rPr lang="en-IN" sz="1800" b="0" dirty="0">
                <a:solidFill>
                  <a:srgbClr val="1F2937"/>
                </a:solidFill>
              </a:rPr>
              <a:t>Students, job seekers, recruiters.</a:t>
            </a:r>
          </a:p>
        </p:txBody>
      </p:sp>
      <p:sp>
        <p:nvSpPr>
          <p:cNvPr id="5" name="Flow"/>
          <p:cNvSpPr/>
          <p:nvPr/>
        </p:nvSpPr>
        <p:spPr>
          <a:xfrm>
            <a:off x="731520" y="3291840"/>
            <a:ext cx="521208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1B5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82880" bIns="91440" rtlCol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lang="en-IN" sz="1800" b="1" dirty="0">
                <a:solidFill>
                  <a:srgbClr val="1B5E83"/>
                </a:solidFill>
              </a:rPr>
              <a:t>Flow:</a:t>
            </a:r>
          </a:p>
          <a:p>
            <a:pPr algn="l">
              <a:spcAft>
                <a:spcPts val="0"/>
              </a:spcAft>
            </a:pPr>
            <a:r>
              <a:rPr lang="en-IN" sz="1800" b="0" dirty="0">
                <a:solidFill>
                  <a:srgbClr val="1F2937"/>
                </a:solidFill>
              </a:rPr>
              <a:t>Excel → Pandas/NumPy processing → Charts &amp; insights.</a:t>
            </a:r>
          </a:p>
        </p:txBody>
      </p:sp>
      <p:sp>
        <p:nvSpPr>
          <p:cNvPr id="6" name="Method"/>
          <p:cNvSpPr/>
          <p:nvPr/>
        </p:nvSpPr>
        <p:spPr>
          <a:xfrm>
            <a:off x="6217920" y="3291840"/>
            <a:ext cx="521208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1B5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82880" bIns="91440" rtlCol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lang="en-IN" sz="1800" b="1" dirty="0">
                <a:solidFill>
                  <a:srgbClr val="1B5E83"/>
                </a:solidFill>
              </a:rPr>
              <a:t>Method:</a:t>
            </a:r>
          </a:p>
          <a:p>
            <a:pPr algn="l">
              <a:spcAft>
                <a:spcPts val="0"/>
              </a:spcAft>
            </a:pPr>
            <a:r>
              <a:rPr lang="en-IN" sz="1800" b="0" dirty="0">
                <a:solidFill>
                  <a:srgbClr val="1F2937"/>
                </a:solidFill>
              </a:rPr>
              <a:t>Load → Clean → Aggregate → Visualize.</a:t>
            </a:r>
          </a:p>
        </p:txBody>
      </p:sp>
      <p:sp>
        <p:nvSpPr>
          <p:cNvPr id="7" name="Benefit"/>
          <p:cNvSpPr/>
          <p:nvPr/>
        </p:nvSpPr>
        <p:spPr>
          <a:xfrm>
            <a:off x="731520" y="4846320"/>
            <a:ext cx="10698480" cy="1188720"/>
          </a:xfrm>
          <a:prstGeom prst="rect">
            <a:avLst/>
          </a:prstGeom>
          <a:solidFill>
            <a:srgbClr val="1B5E83"/>
          </a:solidFill>
          <a:ln w="12700">
            <a:solidFill>
              <a:srgbClr val="1B5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82880" bIns="91440" rtlCol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lang="en-IN" sz="1800" b="1" dirty="0">
                <a:solidFill>
                  <a:srgbClr val="FFFFFF"/>
                </a:solidFill>
              </a:rPr>
              <a:t>Benefit:</a:t>
            </a:r>
          </a:p>
          <a:p>
            <a:pPr algn="l">
              <a:spcAft>
                <a:spcPts val="0"/>
              </a:spcAft>
            </a:pPr>
            <a:r>
              <a:rPr lang="en-IN" sz="1800" b="0" dirty="0">
                <a:solidFill>
                  <a:srgbClr val="FFFFFF"/>
                </a:solidFill>
              </a:rPr>
              <a:t>Data-backed skill and salary decisions.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31520" y="91440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en-IN" sz="3200" b="1" dirty="0">
                <a:solidFill>
                  <a:srgbClr val="1B5E83"/>
                </a:solidFill>
              </a:rPr>
              <a:t>Data Used :</a:t>
            </a:r>
          </a:p>
        </p:txBody>
      </p:sp>
      <p:sp>
        <p:nvSpPr>
          <p:cNvPr id="3" name="Type"/>
          <p:cNvSpPr/>
          <p:nvPr/>
        </p:nvSpPr>
        <p:spPr>
          <a:xfrm>
            <a:off x="731520" y="1737360"/>
            <a:ext cx="344424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1B5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82880" bIns="91440" rtlCol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lang="en-IN" sz="1800" b="1" dirty="0">
                <a:solidFill>
                  <a:srgbClr val="1B5E83"/>
                </a:solidFill>
              </a:rPr>
              <a:t>Type:</a:t>
            </a:r>
          </a:p>
          <a:p>
            <a:pPr algn="l">
              <a:spcAft>
                <a:spcPts val="0"/>
              </a:spcAft>
            </a:pPr>
            <a:r>
              <a:rPr lang="en-IN" sz="1800" b="0">
                <a:solidFill>
                  <a:srgbClr val="1F2937"/>
                </a:solidFill>
              </a:rPr>
              <a:t>Structured Excel</a:t>
            </a:r>
            <a:endParaRPr lang="en-IN" sz="1800" b="0" dirty="0">
              <a:solidFill>
                <a:srgbClr val="1F2937"/>
              </a:solidFill>
            </a:endParaRPr>
          </a:p>
        </p:txBody>
      </p:sp>
      <p:sp>
        <p:nvSpPr>
          <p:cNvPr id="4" name="Source"/>
          <p:cNvSpPr/>
          <p:nvPr/>
        </p:nvSpPr>
        <p:spPr>
          <a:xfrm>
            <a:off x="4358640" y="1737360"/>
            <a:ext cx="344424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1B5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82880" bIns="91440" rtlCol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lang="en-IN" sz="1800" b="1" dirty="0">
                <a:solidFill>
                  <a:srgbClr val="1B5E83"/>
                </a:solidFill>
              </a:rPr>
              <a:t>source:</a:t>
            </a:r>
          </a:p>
          <a:p>
            <a:pPr algn="l">
              <a:spcAft>
                <a:spcPts val="0"/>
              </a:spcAft>
            </a:pPr>
            <a:r>
              <a:rPr lang="en-IN" sz="1800" b="0" dirty="0">
                <a:solidFill>
                  <a:srgbClr val="1F2937"/>
                </a:solidFill>
              </a:rPr>
              <a:t>LinkedIn_Jobs_and_Skills dataset</a:t>
            </a:r>
          </a:p>
        </p:txBody>
      </p:sp>
      <p:sp>
        <p:nvSpPr>
          <p:cNvPr id="5" name="Format"/>
          <p:cNvSpPr/>
          <p:nvPr/>
        </p:nvSpPr>
        <p:spPr>
          <a:xfrm>
            <a:off x="7985760" y="1737360"/>
            <a:ext cx="344424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1B5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82880" bIns="91440" rtlCol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lang="en-IN" sz="1800" b="1" dirty="0">
                <a:solidFill>
                  <a:srgbClr val="1B5E83"/>
                </a:solidFill>
              </a:rPr>
              <a:t>Format:</a:t>
            </a:r>
          </a:p>
          <a:p>
            <a:pPr algn="l">
              <a:spcAft>
                <a:spcPts val="0"/>
              </a:spcAft>
            </a:pPr>
            <a:r>
              <a:rPr lang="en-IN">
                <a:solidFill>
                  <a:srgbClr val="1F2937"/>
                </a:solidFill>
              </a:rPr>
              <a:t>CSV</a:t>
            </a:r>
            <a:r>
              <a:rPr lang="en-IN" sz="1800" b="0">
                <a:solidFill>
                  <a:srgbClr val="1F2937"/>
                </a:solidFill>
              </a:rPr>
              <a:t> </a:t>
            </a:r>
            <a:r>
              <a:rPr lang="en-IN" sz="1800" b="0" dirty="0">
                <a:solidFill>
                  <a:srgbClr val="1F2937"/>
                </a:solidFill>
              </a:rPr>
              <a:t>(Jan 2025 – Aug 2026)</a:t>
            </a:r>
          </a:p>
        </p:txBody>
      </p:sp>
      <p:sp>
        <p:nvSpPr>
          <p:cNvPr id="6" name="Records"/>
          <p:cNvSpPr/>
          <p:nvPr/>
        </p:nvSpPr>
        <p:spPr>
          <a:xfrm>
            <a:off x="731520" y="3474720"/>
            <a:ext cx="3444240" cy="1554480"/>
          </a:xfrm>
          <a:prstGeom prst="rect">
            <a:avLst/>
          </a:prstGeom>
          <a:solidFill>
            <a:srgbClr val="1B5E83"/>
          </a:solidFill>
          <a:ln w="12700">
            <a:solidFill>
              <a:srgbClr val="1B5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82880" bIns="91440" rtlCol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lang="en-IN" sz="1800" b="1" dirty="0">
                <a:solidFill>
                  <a:srgbClr val="FFFFFF"/>
                </a:solidFill>
              </a:rPr>
              <a:t>Records:</a:t>
            </a:r>
          </a:p>
          <a:p>
            <a:pPr algn="l">
              <a:spcAft>
                <a:spcPts val="0"/>
              </a:spcAft>
            </a:pPr>
            <a:r>
              <a:rPr lang="en-IN" sz="2800" b="1" dirty="0">
                <a:solidFill>
                  <a:srgbClr val="FFFFFF"/>
                </a:solidFill>
              </a:rPr>
              <a:t>50,000 postings</a:t>
            </a:r>
          </a:p>
        </p:txBody>
      </p:sp>
      <p:sp>
        <p:nvSpPr>
          <p:cNvPr id="7" name="Attributes"/>
          <p:cNvSpPr/>
          <p:nvPr/>
        </p:nvSpPr>
        <p:spPr>
          <a:xfrm>
            <a:off x="4358640" y="3474720"/>
            <a:ext cx="7071360" cy="1554480"/>
          </a:xfrm>
          <a:prstGeom prst="rect">
            <a:avLst/>
          </a:prstGeom>
          <a:solidFill>
            <a:srgbClr val="F1F5F9"/>
          </a:solidFill>
          <a:ln w="12700">
            <a:solidFill>
              <a:srgbClr val="1B5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82880" bIns="91440" rtlCol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lang="en-IN" sz="1800" b="1" dirty="0">
                <a:solidFill>
                  <a:srgbClr val="1B5E83"/>
                </a:solidFill>
              </a:rPr>
              <a:t>Attributes:</a:t>
            </a:r>
          </a:p>
          <a:p>
            <a:pPr algn="l">
              <a:spcAft>
                <a:spcPts val="0"/>
              </a:spcAft>
            </a:pPr>
            <a:r>
              <a:rPr lang="en-IN" sz="1800" b="0" dirty="0">
                <a:solidFill>
                  <a:srgbClr val="1F2937"/>
                </a:solidFill>
              </a:rPr>
              <a:t>Title, company, location, skills, salary, industry, experience, date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914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B5E83"/>
                </a:solidFill>
              </a:rPr>
              <a:t>Implementation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94560"/>
            <a:ext cx="1645920" cy="1737360"/>
          </a:xfrm>
          <a:prstGeom prst="roundRect">
            <a:avLst/>
          </a:prstGeom>
          <a:solidFill>
            <a:srgbClr val="1B5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2286000"/>
            <a:ext cx="149961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</a:rPr>
              <a:t>1 Load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</a:rPr>
              <a:t>Read the 50,000-row CSV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212848" y="3063240"/>
            <a:ext cx="237744" cy="27432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468880" y="2194560"/>
            <a:ext cx="1645920" cy="1737360"/>
          </a:xfrm>
          <a:prstGeom prst="roundRect">
            <a:avLst/>
          </a:prstGeom>
          <a:solidFill>
            <a:srgbClr val="1B5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42032" y="2286000"/>
            <a:ext cx="149961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</a:rPr>
              <a:t>2 Clean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</a:rPr>
              <a:t>Trim text, remove duplicates, fix salaries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33088" y="3063240"/>
            <a:ext cx="237744" cy="27432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389120" y="2194560"/>
            <a:ext cx="1645920" cy="1737360"/>
          </a:xfrm>
          <a:prstGeom prst="roundRect">
            <a:avLst/>
          </a:prstGeom>
          <a:solidFill>
            <a:srgbClr val="1B5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62272" y="2286000"/>
            <a:ext cx="149961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</a:rPr>
              <a:t>3 Transform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</a:rPr>
              <a:t>Add average salary, month, skills list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053328" y="3063240"/>
            <a:ext cx="237744" cy="27432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309360" y="2194560"/>
            <a:ext cx="1645920" cy="1737360"/>
          </a:xfrm>
          <a:prstGeom prst="roundRect">
            <a:avLst/>
          </a:prstGeom>
          <a:solidFill>
            <a:srgbClr val="1B5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82512" y="2286000"/>
            <a:ext cx="149961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</a:rPr>
              <a:t>4 Analyze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</a:rPr>
              <a:t>NumPy mean, median, std, percentiles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973568" y="3063240"/>
            <a:ext cx="237744" cy="27432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229600" y="2194560"/>
            <a:ext cx="1645920" cy="1737360"/>
          </a:xfrm>
          <a:prstGeom prst="roundRect">
            <a:avLst/>
          </a:prstGeom>
          <a:solidFill>
            <a:srgbClr val="1B5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02752" y="2286000"/>
            <a:ext cx="149961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</a:rPr>
              <a:t>5 Visualize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</a:rPr>
              <a:t>6 charts and 2 sorted tables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893808" y="3063240"/>
            <a:ext cx="237744" cy="27432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149840" y="2194560"/>
            <a:ext cx="1645920" cy="173736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22992" y="2286000"/>
            <a:ext cx="149961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</a:rPr>
              <a:t>6 Insights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</a:rPr>
              <a:t>Top skills, salary range, companies hiring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663440"/>
            <a:ext cx="10789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</a:rPr>
              <a:t>Steps 1 to 4 run in code inside prepare() every time the app starts, and the cleaned file is saved to the cleaned_data folder.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</a:rPr>
              <a:t>The dashboard only shows the results (numbers, tables, charts), so the user never sees the cleaning steps.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914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B5E83"/>
                </a:solidFill>
              </a:rPr>
              <a:t>Modules Completed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7271280"/>
              </p:ext>
            </p:extLst>
          </p:nvPr>
        </p:nvGraphicFramePr>
        <p:xfrm>
          <a:off x="1463040" y="1874519"/>
          <a:ext cx="932688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Module</a:t>
                      </a:r>
                    </a:p>
                  </a:txBody>
                  <a:tcPr anchor="ctr">
                    <a:solidFill>
                      <a:srgbClr val="1B5E8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What it does</a:t>
                      </a:r>
                    </a:p>
                  </a:txBody>
                  <a:tcPr anchor="ctr">
                    <a:solidFill>
                      <a:srgbClr val="1B5E8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anchor="ctr">
                    <a:solidFill>
                      <a:srgbClr val="1B5E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Data Loading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Reads the 50,000 LinkedIn job postings (14 columns)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Done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Data Cleaning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Trims text, removes duplicate job_ids, fixes salaries, saves to cleaned_data/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Done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Transformation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Adds average salary, posting month and a skills list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Done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Analysis (NumPy)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Mean, median, std. deviation, 25th/75th percentile of salary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Done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Dashboard (Streamlit)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Level and skill filters, sorted tables, 6 charts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500">
                          <a:solidFill>
                            <a:srgbClr val="1F2937"/>
                          </a:solidFill>
                        </a:rPr>
                        <a:t>Done</a:t>
                      </a:r>
                      <a:endParaRPr sz="1500">
                        <a:solidFill>
                          <a:srgbClr val="1F2937"/>
                        </a:solidFill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Testing and report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F2937"/>
                          </a:solidFill>
                        </a:rPr>
                        <a:t>Checking outputs on different filters, writing the final report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500">
                          <a:solidFill>
                            <a:srgbClr val="1F2937"/>
                          </a:solidFill>
                        </a:rPr>
                        <a:t>Done</a:t>
                      </a:r>
                      <a:endParaRPr sz="1500">
                        <a:solidFill>
                          <a:srgbClr val="1F2937"/>
                        </a:solidFill>
                      </a:endParaRP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914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B5E83"/>
                </a:solidFill>
              </a:rPr>
              <a:t>Module 1: Data Loading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5212080" cy="3474720"/>
          </a:xfrm>
          <a:prstGeom prst="rect">
            <a:avLst/>
          </a:prstGeom>
          <a:solidFill>
            <a:srgbClr val="F1F5F9"/>
          </a:solidFill>
          <a:ln>
            <a:solidFill>
              <a:srgbClr val="1B5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2029968"/>
            <a:ext cx="4937760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1B5E83"/>
                </a:solidFill>
              </a:rPr>
              <a:t>Data loaded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F2937"/>
                </a:solidFill>
              </a:rPr>
              <a:t>Job title, company, location, industry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F2937"/>
                </a:solidFill>
              </a:rPr>
              <a:t>Required skills and experience level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F2937"/>
                </a:solidFill>
              </a:rPr>
              <a:t>Salary minimum and maximum (INR)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F2937"/>
                </a:solidFill>
              </a:rPr>
              <a:t>Posting date and number of applications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920240"/>
            <a:ext cx="5212080" cy="3474720"/>
          </a:xfrm>
          <a:prstGeom prst="rect">
            <a:avLst/>
          </a:prstGeom>
          <a:solidFill>
            <a:srgbClr val="F1F5F9"/>
          </a:solidFill>
          <a:ln>
            <a:solidFill>
              <a:srgbClr val="1B5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55080" y="2029968"/>
            <a:ext cx="4937760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1B5E83"/>
                </a:solidFill>
              </a:rPr>
              <a:t>Tools used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F2937"/>
                </a:solidFill>
              </a:rPr>
              <a:t>Pandas: read_csv loads the 50,000 postings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F2937"/>
                </a:solidFill>
              </a:rPr>
              <a:t>NumPy: array operations on salaries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F2937"/>
                </a:solidFill>
              </a:rPr>
              <a:t>Matplotlib: all six charts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F2937"/>
                </a:solidFill>
              </a:rPr>
              <a:t>Streamlit: dashboard with filters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914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B5E83"/>
                </a:solidFill>
              </a:rPr>
              <a:t>Module 2: Data Cleaning and Preprocessing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20240"/>
            <a:ext cx="2286000" cy="822960"/>
          </a:xfrm>
          <a:prstGeom prst="roundRect">
            <a:avLst/>
          </a:prstGeom>
          <a:solidFill>
            <a:srgbClr val="1B5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</a:rPr>
              <a:t>Raw data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154679" y="2194560"/>
            <a:ext cx="320040" cy="27432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566160" y="1920240"/>
            <a:ext cx="2286000" cy="822960"/>
          </a:xfrm>
          <a:prstGeom prst="roundRect">
            <a:avLst/>
          </a:prstGeom>
          <a:solidFill>
            <a:srgbClr val="1B5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0" y="21031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</a:rPr>
              <a:t>Standardize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897879" y="2194560"/>
            <a:ext cx="320040" cy="27432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309360" y="1920240"/>
            <a:ext cx="2286000" cy="822960"/>
          </a:xfrm>
          <a:prstGeom prst="roundRect">
            <a:avLst/>
          </a:prstGeom>
          <a:solidFill>
            <a:srgbClr val="1B5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</a:rPr>
              <a:t>Validate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641080" y="2194560"/>
            <a:ext cx="320040" cy="274320"/>
          </a:xfrm>
          <a:prstGeom prst="rightArrow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052560" y="1920240"/>
            <a:ext cx="2286000" cy="822960"/>
          </a:xfrm>
          <a:prstGeom prst="roundRect">
            <a:avLst/>
          </a:prstGeom>
          <a:solidFill>
            <a:srgbClr val="1B5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0" y="21031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</a:rPr>
              <a:t>Clean dataset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200400"/>
            <a:ext cx="5212080" cy="2743200"/>
          </a:xfrm>
          <a:prstGeom prst="rect">
            <a:avLst/>
          </a:prstGeom>
          <a:solidFill>
            <a:srgbClr val="F1F5F9"/>
          </a:solidFill>
          <a:ln>
            <a:solidFill>
              <a:srgbClr val="1B5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3310128"/>
            <a:ext cx="4937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B5E83"/>
                </a:solidFill>
              </a:rPr>
              <a:t>Cleaning operations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</a:rPr>
              <a:t>Remove duplicate job_ids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</a:rPr>
              <a:t>Fill missing salaries with the median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</a:rPr>
              <a:t>Replace zero or negative salaries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</a:rPr>
              <a:t>Swap minimum and maximum if reversed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200400"/>
            <a:ext cx="5212080" cy="2743200"/>
          </a:xfrm>
          <a:prstGeom prst="rect">
            <a:avLst/>
          </a:prstGeom>
          <a:solidFill>
            <a:srgbClr val="F1F5F9"/>
          </a:solidFill>
          <a:ln>
            <a:solidFill>
              <a:srgbClr val="1B5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80" y="3310128"/>
            <a:ext cx="4937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B5E83"/>
                </a:solidFill>
              </a:rPr>
              <a:t>Standardization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</a:rPr>
              <a:t>Text columns trimmed of extra spaces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</a:rPr>
              <a:t>Salary columns converted to numbers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</a:rPr>
              <a:t>Average salary and posting month added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</a:rPr>
              <a:t>Result saved in the cleaned_data folder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908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B5E83"/>
                </a:solidFill>
              </a:rPr>
              <a:t>Module 3: Salary Analysis and Comparison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2560320" cy="1188720"/>
          </a:xfrm>
          <a:prstGeom prst="roundRect">
            <a:avLst/>
          </a:prstGeom>
          <a:solidFill>
            <a:srgbClr val="F1F5F9"/>
          </a:solidFill>
          <a:ln>
            <a:solidFill>
              <a:srgbClr val="1B5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600" b="1">
                <a:solidFill>
                  <a:srgbClr val="1B5E83"/>
                </a:solidFill>
              </a:rPr>
              <a:t>₹3.78L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</a:rPr>
              <a:t>MIN: lowest average salary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920240"/>
            <a:ext cx="2560320" cy="1188720"/>
          </a:xfrm>
          <a:prstGeom prst="roundRect">
            <a:avLst/>
          </a:prstGeom>
          <a:solidFill>
            <a:srgbClr val="F1F5F9"/>
          </a:solidFill>
          <a:ln>
            <a:solidFill>
              <a:srgbClr val="1B5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566160" y="201168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600" b="1">
                <a:solidFill>
                  <a:srgbClr val="1B5E83"/>
                </a:solidFill>
              </a:rPr>
              <a:t>₹35.41L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</a:rPr>
              <a:t>MAX: highest average salary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2560320" cy="1188720"/>
          </a:xfrm>
          <a:prstGeom prst="roundRect">
            <a:avLst/>
          </a:prstGeom>
          <a:solidFill>
            <a:srgbClr val="F1F5F9"/>
          </a:solidFill>
          <a:ln>
            <a:solidFill>
              <a:srgbClr val="1B5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09359" y="201168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600" b="1">
                <a:solidFill>
                  <a:srgbClr val="1B5E83"/>
                </a:solidFill>
              </a:rPr>
              <a:t>₹15.79L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</a:rPr>
              <a:t>AVG: average salary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920240"/>
            <a:ext cx="2560320" cy="1188720"/>
          </a:xfrm>
          <a:prstGeom prst="roundRect">
            <a:avLst/>
          </a:prstGeom>
          <a:solidFill>
            <a:srgbClr val="F1F5F9"/>
          </a:solidFill>
          <a:ln>
            <a:solidFill>
              <a:srgbClr val="1B5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52560" y="201168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600" b="1">
                <a:solidFill>
                  <a:srgbClr val="1B5E83"/>
                </a:solidFill>
              </a:rPr>
              <a:t>₹31.63L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</a:rPr>
              <a:t>Δ: difference between max and min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383280"/>
            <a:ext cx="5212080" cy="2651760"/>
          </a:xfrm>
          <a:prstGeom prst="rect">
            <a:avLst/>
          </a:prstGeom>
          <a:solidFill>
            <a:srgbClr val="F1F5F9"/>
          </a:solidFill>
          <a:ln>
            <a:solidFill>
              <a:srgbClr val="1B5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493008"/>
            <a:ext cx="49377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B5E83"/>
                </a:solidFill>
              </a:rPr>
              <a:t>Example from project dataset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</a:rPr>
              <a:t>Median salary by level: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</a:rPr>
              <a:t>Entry ₹7.1L, Mid ₹11.6L,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</a:rPr>
              <a:t>Senior ₹18.1L, Lead ₹26.0L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</a:rPr>
              <a:t>Salary rises steadily with experience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383280"/>
            <a:ext cx="5212080" cy="2651760"/>
          </a:xfrm>
          <a:prstGeom prst="rect">
            <a:avLst/>
          </a:prstGeom>
          <a:solidFill>
            <a:srgbClr val="F1F5F9"/>
          </a:solidFill>
          <a:ln>
            <a:solidFill>
              <a:srgbClr val="1B5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3493008"/>
            <a:ext cx="49377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B5E83"/>
                </a:solidFill>
              </a:rPr>
              <a:t>Comparison output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</a:rPr>
              <a:t>Compare salaries across experience levels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</a:rPr>
              <a:t>Compare companies by openings and average salary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</a:rPr>
              <a:t>Filter any result by skill and level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914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B5E83"/>
                </a:solidFill>
              </a:rPr>
              <a:t>Code, Functions and Outputs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5212080" cy="4206240"/>
          </a:xfrm>
          <a:prstGeom prst="rect">
            <a:avLst/>
          </a:prstGeom>
          <a:solidFill>
            <a:srgbClr val="F1F5F9"/>
          </a:solidFill>
          <a:ln>
            <a:solidFill>
              <a:srgbClr val="1B5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2029968"/>
            <a:ext cx="493776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B5E83"/>
                </a:solidFill>
              </a:rPr>
              <a:t>Functions and libraries explained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</a:rPr>
              <a:t>prepare(): load, clean, transform, save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</a:rPr>
              <a:t>show(): draws every chart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</a:rPr>
              <a:t>Pandas: cleaning, grouping, sorting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</a:rPr>
              <a:t>NumPy: salary fixes and statistics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</a:rPr>
              <a:t>Matplotlib: bar, pie, histogram, boxplot, line, scatter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</a:rPr>
              <a:t>Streamlit: filters and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920240"/>
            <a:ext cx="5212080" cy="4206240"/>
          </a:xfrm>
          <a:prstGeom prst="rect">
            <a:avLst/>
          </a:prstGeom>
          <a:solidFill>
            <a:srgbClr val="F1F5F9"/>
          </a:solidFill>
          <a:ln>
            <a:solidFill>
              <a:srgbClr val="1B5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55080" y="2029968"/>
            <a:ext cx="493776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B5E83"/>
                </a:solidFill>
              </a:rPr>
              <a:t>Outputs to demonstrate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</a:rPr>
              <a:t>Cleaned file in cleaned_data folder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</a:rPr>
              <a:t>Salary statistics (mean, median, std, percentiles)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</a:rPr>
              <a:t>Companies recruiting table, sorted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</a:rPr>
              <a:t>Matching jobs table, sorted by choice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937"/>
                </a:solidFill>
              </a:rPr>
              <a:t>Six charts that update with the filters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914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B5E83"/>
                </a:solidFill>
              </a:rPr>
              <a:t>Code: Load and Clean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83080"/>
            <a:ext cx="6766560" cy="4480560"/>
          </a:xfrm>
          <a:prstGeom prst="rect">
            <a:avLst/>
          </a:prstGeom>
          <a:solidFill>
            <a:srgbClr val="F1F5F9"/>
          </a:solidFill>
          <a:ln>
            <a:solidFill>
              <a:srgbClr val="1B5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19" y="1856231"/>
            <a:ext cx="6583680" cy="433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 err="1">
                <a:solidFill>
                  <a:srgbClr val="1F2937"/>
                </a:solidFill>
                <a:latin typeface="Consolas"/>
              </a:rPr>
              <a:t>df</a:t>
            </a:r>
            <a:r>
              <a:rPr sz="1400" b="0">
                <a:solidFill>
                  <a:srgbClr val="1F2937"/>
                </a:solidFill>
                <a:latin typeface="Consolas"/>
              </a:rPr>
              <a:t> = </a:t>
            </a:r>
            <a:r>
              <a:rPr sz="1400" b="0" err="1">
                <a:solidFill>
                  <a:srgbClr val="1F2937"/>
                </a:solidFill>
                <a:latin typeface="Consolas"/>
              </a:rPr>
              <a:t>pd.read_csv</a:t>
            </a:r>
            <a:r>
              <a:rPr sz="1400" b="0">
                <a:solidFill>
                  <a:srgbClr val="1F2937"/>
                </a:solidFill>
                <a:latin typeface="Consolas"/>
              </a:rPr>
              <a:t>(RAW_FILE)</a:t>
            </a:r>
          </a:p>
          <a:p>
            <a:pPr>
              <a:spcAft>
                <a:spcPts val="0"/>
              </a:spcAft>
            </a:pPr>
            <a:endParaRPr sz="1400" b="0">
              <a:solidFill>
                <a:srgbClr val="1F2937"/>
              </a:solidFill>
              <a:latin typeface="Consolas"/>
            </a:endParaRP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Consolas"/>
              </a:rPr>
              <a:t>for c in ["</a:t>
            </a:r>
            <a:r>
              <a:rPr sz="1400" b="0" err="1">
                <a:solidFill>
                  <a:srgbClr val="1F2937"/>
                </a:solidFill>
                <a:latin typeface="Consolas"/>
              </a:rPr>
              <a:t>job_title</a:t>
            </a:r>
            <a:r>
              <a:rPr sz="1400" b="0">
                <a:solidFill>
                  <a:srgbClr val="1F2937"/>
                </a:solidFill>
                <a:latin typeface="Consolas"/>
              </a:rPr>
              <a:t>", "company", "location",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Consolas"/>
              </a:rPr>
              <a:t>          "industry", "</a:t>
            </a:r>
            <a:r>
              <a:rPr sz="1400" b="0" err="1">
                <a:solidFill>
                  <a:srgbClr val="1F2937"/>
                </a:solidFill>
                <a:latin typeface="Consolas"/>
              </a:rPr>
              <a:t>required_skills</a:t>
            </a:r>
            <a:r>
              <a:rPr sz="1400" b="0">
                <a:solidFill>
                  <a:srgbClr val="1F2937"/>
                </a:solidFill>
                <a:latin typeface="Consolas"/>
              </a:rPr>
              <a:t>",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Consolas"/>
              </a:rPr>
              <a:t>          "</a:t>
            </a:r>
            <a:r>
              <a:rPr sz="1400" b="0" err="1">
                <a:solidFill>
                  <a:srgbClr val="1F2937"/>
                </a:solidFill>
                <a:latin typeface="Consolas"/>
              </a:rPr>
              <a:t>experience_level</a:t>
            </a:r>
            <a:r>
              <a:rPr sz="1400" b="0">
                <a:solidFill>
                  <a:srgbClr val="1F2937"/>
                </a:solidFill>
                <a:latin typeface="Consolas"/>
              </a:rPr>
              <a:t>"]: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Consolas"/>
              </a:rPr>
              <a:t>    </a:t>
            </a:r>
            <a:r>
              <a:rPr sz="1400" b="0" err="1">
                <a:solidFill>
                  <a:srgbClr val="1F2937"/>
                </a:solidFill>
                <a:latin typeface="Consolas"/>
              </a:rPr>
              <a:t>df</a:t>
            </a:r>
            <a:r>
              <a:rPr sz="1400" b="0">
                <a:solidFill>
                  <a:srgbClr val="1F2937"/>
                </a:solidFill>
                <a:latin typeface="Consolas"/>
              </a:rPr>
              <a:t>[c] = </a:t>
            </a:r>
            <a:r>
              <a:rPr sz="1400" b="0" err="1">
                <a:solidFill>
                  <a:srgbClr val="1F2937"/>
                </a:solidFill>
                <a:latin typeface="Consolas"/>
              </a:rPr>
              <a:t>df</a:t>
            </a:r>
            <a:r>
              <a:rPr sz="1400" b="0">
                <a:solidFill>
                  <a:srgbClr val="1F2937"/>
                </a:solidFill>
                <a:latin typeface="Consolas"/>
              </a:rPr>
              <a:t>[c].</a:t>
            </a:r>
            <a:r>
              <a:rPr sz="1400" b="0" err="1">
                <a:solidFill>
                  <a:srgbClr val="1F2937"/>
                </a:solidFill>
                <a:latin typeface="Consolas"/>
              </a:rPr>
              <a:t>astype</a:t>
            </a:r>
            <a:r>
              <a:rPr sz="1400" b="0">
                <a:solidFill>
                  <a:srgbClr val="1F2937"/>
                </a:solidFill>
                <a:latin typeface="Consolas"/>
              </a:rPr>
              <a:t>(str).</a:t>
            </a:r>
            <a:r>
              <a:rPr sz="1400" b="0" err="1">
                <a:solidFill>
                  <a:srgbClr val="1F2937"/>
                </a:solidFill>
                <a:latin typeface="Consolas"/>
              </a:rPr>
              <a:t>str.strip</a:t>
            </a:r>
            <a:r>
              <a:rPr sz="1400" b="0">
                <a:solidFill>
                  <a:srgbClr val="1F2937"/>
                </a:solidFill>
                <a:latin typeface="Consolas"/>
              </a:rPr>
              <a:t>()</a:t>
            </a:r>
          </a:p>
          <a:p>
            <a:pPr>
              <a:spcAft>
                <a:spcPts val="0"/>
              </a:spcAft>
            </a:pPr>
            <a:r>
              <a:rPr sz="1400" b="0" err="1">
                <a:solidFill>
                  <a:srgbClr val="1F2937"/>
                </a:solidFill>
                <a:latin typeface="Consolas"/>
              </a:rPr>
              <a:t>df</a:t>
            </a:r>
            <a:r>
              <a:rPr sz="1400" b="0">
                <a:solidFill>
                  <a:srgbClr val="1F2937"/>
                </a:solidFill>
                <a:latin typeface="Consolas"/>
              </a:rPr>
              <a:t> = </a:t>
            </a:r>
            <a:r>
              <a:rPr sz="1400" b="0" err="1">
                <a:solidFill>
                  <a:srgbClr val="1F2937"/>
                </a:solidFill>
                <a:latin typeface="Consolas"/>
              </a:rPr>
              <a:t>df.drop_duplicates</a:t>
            </a:r>
            <a:r>
              <a:rPr sz="1400" b="0">
                <a:solidFill>
                  <a:srgbClr val="1F2937"/>
                </a:solidFill>
                <a:latin typeface="Consolas"/>
              </a:rPr>
              <a:t>(subset="</a:t>
            </a:r>
            <a:r>
              <a:rPr sz="1400" b="0" err="1">
                <a:solidFill>
                  <a:srgbClr val="1F2937"/>
                </a:solidFill>
                <a:latin typeface="Consolas"/>
              </a:rPr>
              <a:t>job_id</a:t>
            </a:r>
            <a:r>
              <a:rPr sz="1400" b="0">
                <a:solidFill>
                  <a:srgbClr val="1F2937"/>
                </a:solidFill>
                <a:latin typeface="Consolas"/>
              </a:rPr>
              <a:t>")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Consolas"/>
              </a:rPr>
              <a:t>for c in ["</a:t>
            </a:r>
            <a:r>
              <a:rPr sz="1400" b="0" err="1">
                <a:solidFill>
                  <a:srgbClr val="1F2937"/>
                </a:solidFill>
                <a:latin typeface="Consolas"/>
              </a:rPr>
              <a:t>salary_min_inr</a:t>
            </a:r>
            <a:r>
              <a:rPr sz="1400" b="0">
                <a:solidFill>
                  <a:srgbClr val="1F2937"/>
                </a:solidFill>
                <a:latin typeface="Consolas"/>
              </a:rPr>
              <a:t>", "</a:t>
            </a:r>
            <a:r>
              <a:rPr sz="1400" b="0" err="1">
                <a:solidFill>
                  <a:srgbClr val="1F2937"/>
                </a:solidFill>
                <a:latin typeface="Consolas"/>
              </a:rPr>
              <a:t>salary_max_inr</a:t>
            </a:r>
            <a:r>
              <a:rPr sz="1400" b="0">
                <a:solidFill>
                  <a:srgbClr val="1F2937"/>
                </a:solidFill>
                <a:latin typeface="Consolas"/>
              </a:rPr>
              <a:t>"]: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Consolas"/>
              </a:rPr>
              <a:t>    </a:t>
            </a:r>
            <a:r>
              <a:rPr sz="1400" b="0" err="1">
                <a:solidFill>
                  <a:srgbClr val="1F2937"/>
                </a:solidFill>
                <a:latin typeface="Consolas"/>
              </a:rPr>
              <a:t>df</a:t>
            </a:r>
            <a:r>
              <a:rPr sz="1400" b="0">
                <a:solidFill>
                  <a:srgbClr val="1F2937"/>
                </a:solidFill>
                <a:latin typeface="Consolas"/>
              </a:rPr>
              <a:t>[c] = </a:t>
            </a:r>
            <a:r>
              <a:rPr sz="1400" b="0" err="1">
                <a:solidFill>
                  <a:srgbClr val="1F2937"/>
                </a:solidFill>
                <a:latin typeface="Consolas"/>
              </a:rPr>
              <a:t>df</a:t>
            </a:r>
            <a:r>
              <a:rPr sz="1400" b="0">
                <a:solidFill>
                  <a:srgbClr val="1F2937"/>
                </a:solidFill>
                <a:latin typeface="Consolas"/>
              </a:rPr>
              <a:t>[c].</a:t>
            </a:r>
            <a:r>
              <a:rPr sz="1400" b="0" err="1">
                <a:solidFill>
                  <a:srgbClr val="1F2937"/>
                </a:solidFill>
                <a:latin typeface="Consolas"/>
              </a:rPr>
              <a:t>astype</a:t>
            </a:r>
            <a:r>
              <a:rPr sz="1400" b="0">
                <a:solidFill>
                  <a:srgbClr val="1F2937"/>
                </a:solidFill>
                <a:latin typeface="Consolas"/>
              </a:rPr>
              <a:t>(float)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Consolas"/>
              </a:rPr>
              <a:t>    </a:t>
            </a:r>
            <a:r>
              <a:rPr sz="1400" b="0" err="1">
                <a:solidFill>
                  <a:srgbClr val="1F2937"/>
                </a:solidFill>
                <a:latin typeface="Consolas"/>
              </a:rPr>
              <a:t>df</a:t>
            </a:r>
            <a:r>
              <a:rPr sz="1400" b="0">
                <a:solidFill>
                  <a:srgbClr val="1F2937"/>
                </a:solidFill>
                <a:latin typeface="Consolas"/>
              </a:rPr>
              <a:t>[c] = </a:t>
            </a:r>
            <a:r>
              <a:rPr sz="1400" b="0" err="1">
                <a:solidFill>
                  <a:srgbClr val="1F2937"/>
                </a:solidFill>
                <a:latin typeface="Consolas"/>
              </a:rPr>
              <a:t>df</a:t>
            </a:r>
            <a:r>
              <a:rPr sz="1400" b="0">
                <a:solidFill>
                  <a:srgbClr val="1F2937"/>
                </a:solidFill>
                <a:latin typeface="Consolas"/>
              </a:rPr>
              <a:t>[c].</a:t>
            </a:r>
            <a:r>
              <a:rPr sz="1400" b="0" err="1">
                <a:solidFill>
                  <a:srgbClr val="1F2937"/>
                </a:solidFill>
                <a:latin typeface="Consolas"/>
              </a:rPr>
              <a:t>fillna</a:t>
            </a:r>
            <a:r>
              <a:rPr sz="1400" b="0">
                <a:solidFill>
                  <a:srgbClr val="1F2937"/>
                </a:solidFill>
                <a:latin typeface="Consolas"/>
              </a:rPr>
              <a:t>(</a:t>
            </a:r>
            <a:r>
              <a:rPr sz="1400" b="0" err="1">
                <a:solidFill>
                  <a:srgbClr val="1F2937"/>
                </a:solidFill>
                <a:latin typeface="Consolas"/>
              </a:rPr>
              <a:t>df</a:t>
            </a:r>
            <a:r>
              <a:rPr sz="1400" b="0">
                <a:solidFill>
                  <a:srgbClr val="1F2937"/>
                </a:solidFill>
                <a:latin typeface="Consolas"/>
              </a:rPr>
              <a:t>[c].median())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Consolas"/>
              </a:rPr>
              <a:t>    </a:t>
            </a:r>
            <a:r>
              <a:rPr sz="1400" b="0" err="1">
                <a:solidFill>
                  <a:srgbClr val="1F2937"/>
                </a:solidFill>
                <a:latin typeface="Consolas"/>
              </a:rPr>
              <a:t>df.loc</a:t>
            </a:r>
            <a:r>
              <a:rPr sz="1400" b="0">
                <a:solidFill>
                  <a:srgbClr val="1F2937"/>
                </a:solidFill>
                <a:latin typeface="Consolas"/>
              </a:rPr>
              <a:t>[</a:t>
            </a:r>
            <a:r>
              <a:rPr sz="1400" b="0" err="1">
                <a:solidFill>
                  <a:srgbClr val="1F2937"/>
                </a:solidFill>
                <a:latin typeface="Consolas"/>
              </a:rPr>
              <a:t>df</a:t>
            </a:r>
            <a:r>
              <a:rPr sz="1400" b="0">
                <a:solidFill>
                  <a:srgbClr val="1F2937"/>
                </a:solidFill>
                <a:latin typeface="Consolas"/>
              </a:rPr>
              <a:t>[c] &lt;= 0, c] = </a:t>
            </a:r>
            <a:r>
              <a:rPr sz="1400" b="0" err="1">
                <a:solidFill>
                  <a:srgbClr val="1F2937"/>
                </a:solidFill>
                <a:latin typeface="Consolas"/>
              </a:rPr>
              <a:t>df</a:t>
            </a:r>
            <a:r>
              <a:rPr sz="1400" b="0">
                <a:solidFill>
                  <a:srgbClr val="1F2937"/>
                </a:solidFill>
                <a:latin typeface="Consolas"/>
              </a:rPr>
              <a:t>[c].median()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Consolas"/>
              </a:rPr>
              <a:t>lo = </a:t>
            </a:r>
            <a:r>
              <a:rPr sz="1400" b="0" err="1">
                <a:solidFill>
                  <a:srgbClr val="1F2937"/>
                </a:solidFill>
                <a:latin typeface="Consolas"/>
              </a:rPr>
              <a:t>df</a:t>
            </a:r>
            <a:r>
              <a:rPr sz="1400" b="0">
                <a:solidFill>
                  <a:srgbClr val="1F2937"/>
                </a:solidFill>
                <a:latin typeface="Consolas"/>
              </a:rPr>
              <a:t>["</a:t>
            </a:r>
            <a:r>
              <a:rPr sz="1400" b="0" err="1">
                <a:solidFill>
                  <a:srgbClr val="1F2937"/>
                </a:solidFill>
                <a:latin typeface="Consolas"/>
              </a:rPr>
              <a:t>salary_min_inr</a:t>
            </a:r>
            <a:r>
              <a:rPr sz="1400" b="0">
                <a:solidFill>
                  <a:srgbClr val="1F2937"/>
                </a:solidFill>
                <a:latin typeface="Consolas"/>
              </a:rPr>
              <a:t>"].</a:t>
            </a:r>
            <a:r>
              <a:rPr sz="1400" b="0" err="1">
                <a:solidFill>
                  <a:srgbClr val="1F2937"/>
                </a:solidFill>
                <a:latin typeface="Consolas"/>
              </a:rPr>
              <a:t>to_numpy</a:t>
            </a:r>
            <a:r>
              <a:rPr sz="1400" b="0">
                <a:solidFill>
                  <a:srgbClr val="1F2937"/>
                </a:solidFill>
                <a:latin typeface="Consolas"/>
              </a:rPr>
              <a:t>()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Consolas"/>
              </a:rPr>
              <a:t>hi = </a:t>
            </a:r>
            <a:r>
              <a:rPr sz="1400" b="0" err="1">
                <a:solidFill>
                  <a:srgbClr val="1F2937"/>
                </a:solidFill>
                <a:latin typeface="Consolas"/>
              </a:rPr>
              <a:t>df</a:t>
            </a:r>
            <a:r>
              <a:rPr sz="1400" b="0">
                <a:solidFill>
                  <a:srgbClr val="1F2937"/>
                </a:solidFill>
                <a:latin typeface="Consolas"/>
              </a:rPr>
              <a:t>["</a:t>
            </a:r>
            <a:r>
              <a:rPr sz="1400" b="0" err="1">
                <a:solidFill>
                  <a:srgbClr val="1F2937"/>
                </a:solidFill>
                <a:latin typeface="Consolas"/>
              </a:rPr>
              <a:t>salary_max_inr</a:t>
            </a:r>
            <a:r>
              <a:rPr sz="1400" b="0">
                <a:solidFill>
                  <a:srgbClr val="1F2937"/>
                </a:solidFill>
                <a:latin typeface="Consolas"/>
              </a:rPr>
              <a:t>"].</a:t>
            </a:r>
            <a:r>
              <a:rPr sz="1400" b="0" err="1">
                <a:solidFill>
                  <a:srgbClr val="1F2937"/>
                </a:solidFill>
                <a:latin typeface="Consolas"/>
              </a:rPr>
              <a:t>to_numpy</a:t>
            </a:r>
            <a:r>
              <a:rPr sz="1400" b="0">
                <a:solidFill>
                  <a:srgbClr val="1F2937"/>
                </a:solidFill>
                <a:latin typeface="Consolas"/>
              </a:rPr>
              <a:t>()</a:t>
            </a:r>
          </a:p>
          <a:p>
            <a:pPr>
              <a:spcAft>
                <a:spcPts val="0"/>
              </a:spcAft>
            </a:pPr>
            <a:r>
              <a:rPr sz="1400" b="0" err="1">
                <a:solidFill>
                  <a:srgbClr val="1F2937"/>
                </a:solidFill>
                <a:latin typeface="Consolas"/>
              </a:rPr>
              <a:t>df</a:t>
            </a:r>
            <a:r>
              <a:rPr sz="1400" b="0">
                <a:solidFill>
                  <a:srgbClr val="1F2937"/>
                </a:solidFill>
                <a:latin typeface="Consolas"/>
              </a:rPr>
              <a:t>["</a:t>
            </a:r>
            <a:r>
              <a:rPr sz="1400" b="0" err="1">
                <a:solidFill>
                  <a:srgbClr val="1F2937"/>
                </a:solidFill>
                <a:latin typeface="Consolas"/>
              </a:rPr>
              <a:t>salary_min_inr</a:t>
            </a:r>
            <a:r>
              <a:rPr sz="1400" b="0">
                <a:solidFill>
                  <a:srgbClr val="1F2937"/>
                </a:solidFill>
                <a:latin typeface="Consolas"/>
              </a:rPr>
              <a:t>"] = </a:t>
            </a:r>
            <a:r>
              <a:rPr sz="1400" b="0" err="1">
                <a:solidFill>
                  <a:srgbClr val="1F2937"/>
                </a:solidFill>
                <a:latin typeface="Consolas"/>
              </a:rPr>
              <a:t>np.minimum</a:t>
            </a:r>
            <a:r>
              <a:rPr sz="1400" b="0">
                <a:solidFill>
                  <a:srgbClr val="1F2937"/>
                </a:solidFill>
                <a:latin typeface="Consolas"/>
              </a:rPr>
              <a:t>(lo, hi)</a:t>
            </a:r>
          </a:p>
          <a:p>
            <a:pPr>
              <a:spcAft>
                <a:spcPts val="0"/>
              </a:spcAft>
            </a:pPr>
            <a:r>
              <a:rPr sz="1400" b="0" err="1">
                <a:solidFill>
                  <a:srgbClr val="1F2937"/>
                </a:solidFill>
                <a:latin typeface="Consolas"/>
              </a:rPr>
              <a:t>df</a:t>
            </a:r>
            <a:r>
              <a:rPr sz="1400" b="0">
                <a:solidFill>
                  <a:srgbClr val="1F2937"/>
                </a:solidFill>
                <a:latin typeface="Consolas"/>
              </a:rPr>
              <a:t>["</a:t>
            </a:r>
            <a:r>
              <a:rPr sz="1400" b="0" err="1">
                <a:solidFill>
                  <a:srgbClr val="1F2937"/>
                </a:solidFill>
                <a:latin typeface="Consolas"/>
              </a:rPr>
              <a:t>salary_max_inr</a:t>
            </a:r>
            <a:r>
              <a:rPr sz="1400" b="0">
                <a:solidFill>
                  <a:srgbClr val="1F2937"/>
                </a:solidFill>
                <a:latin typeface="Consolas"/>
              </a:rPr>
              <a:t>"] = </a:t>
            </a:r>
            <a:r>
              <a:rPr sz="1400" b="0" err="1">
                <a:solidFill>
                  <a:srgbClr val="1F2937"/>
                </a:solidFill>
                <a:latin typeface="Consolas"/>
              </a:rPr>
              <a:t>np.maximum</a:t>
            </a:r>
            <a:r>
              <a:rPr sz="1400" b="0">
                <a:solidFill>
                  <a:srgbClr val="1F2937"/>
                </a:solidFill>
                <a:latin typeface="Consolas"/>
              </a:rPr>
              <a:t>(lo, hi)</a:t>
            </a:r>
          </a:p>
          <a:p>
            <a:pPr>
              <a:spcAft>
                <a:spcPts val="0"/>
              </a:spcAft>
            </a:pPr>
            <a:endParaRPr sz="1400" b="0">
              <a:solidFill>
                <a:srgbClr val="1F2937"/>
              </a:solidFill>
              <a:latin typeface="Consolas"/>
            </a:endParaRPr>
          </a:p>
          <a:p>
            <a:pPr>
              <a:spcAft>
                <a:spcPts val="0"/>
              </a:spcAft>
            </a:pPr>
            <a:r>
              <a:rPr sz="1400" b="0" err="1">
                <a:solidFill>
                  <a:srgbClr val="1F2937"/>
                </a:solidFill>
                <a:latin typeface="Consolas"/>
              </a:rPr>
              <a:t>os.makedirs</a:t>
            </a:r>
            <a:r>
              <a:rPr sz="1400" b="0">
                <a:solidFill>
                  <a:srgbClr val="1F2937"/>
                </a:solidFill>
                <a:latin typeface="Consolas"/>
              </a:rPr>
              <a:t>(CLEAN_DIR, </a:t>
            </a:r>
            <a:r>
              <a:rPr sz="1400" b="0" err="1">
                <a:solidFill>
                  <a:srgbClr val="1F2937"/>
                </a:solidFill>
                <a:latin typeface="Consolas"/>
              </a:rPr>
              <a:t>exist_ok</a:t>
            </a:r>
            <a:r>
              <a:rPr sz="1400" b="0">
                <a:solidFill>
                  <a:srgbClr val="1F2937"/>
                </a:solidFill>
                <a:latin typeface="Consolas"/>
              </a:rPr>
              <a:t>=True)</a:t>
            </a:r>
          </a:p>
          <a:p>
            <a:pPr>
              <a:spcAft>
                <a:spcPts val="0"/>
              </a:spcAft>
            </a:pPr>
            <a:r>
              <a:rPr sz="1400" b="0" err="1">
                <a:solidFill>
                  <a:srgbClr val="1F2937"/>
                </a:solidFill>
                <a:latin typeface="Consolas"/>
              </a:rPr>
              <a:t>df.to_csv</a:t>
            </a:r>
            <a:r>
              <a:rPr sz="1400" b="0">
                <a:solidFill>
                  <a:srgbClr val="1F2937"/>
                </a:solidFill>
                <a:latin typeface="Consolas"/>
              </a:rPr>
              <a:t>(CLEAN_FILE, index=False)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17830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B5E83"/>
                </a:solidFill>
              </a:rPr>
              <a:t>Output: cleaning check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6439811"/>
              </p:ext>
            </p:extLst>
          </p:nvPr>
        </p:nvGraphicFramePr>
        <p:xfrm>
          <a:off x="7680960" y="2240280"/>
          <a:ext cx="40233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Check</a:t>
                      </a:r>
                    </a:p>
                  </a:txBody>
                  <a:tcPr anchor="ctr">
                    <a:solidFill>
                      <a:srgbClr val="1B5E8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 anchor="ctr">
                    <a:solidFill>
                      <a:srgbClr val="1B5E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Rows loaded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50,000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Duplicate job_ids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solidFill>
                            <a:srgbClr val="1F2937"/>
                          </a:solidFill>
                        </a:rPr>
                        <a:t>0</a:t>
                      </a:r>
                      <a:endParaRPr sz="1400">
                        <a:solidFill>
                          <a:srgbClr val="1F2937"/>
                        </a:solidFill>
                      </a:endParaRP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Missing values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Min &gt; max salary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Cleaned file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Saved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680960" y="4937760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</a:rPr>
              <a:t>Saved to cleaned_data/cleaned_linkedin_jobs.csv (50,000 rows)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914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B5E83"/>
                </a:solidFill>
              </a:rPr>
              <a:t>Code: Transform and Analyze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83080"/>
            <a:ext cx="6766560" cy="3474720"/>
          </a:xfrm>
          <a:prstGeom prst="rect">
            <a:avLst/>
          </a:prstGeom>
          <a:solidFill>
            <a:srgbClr val="F1F5F9"/>
          </a:solidFill>
          <a:ln>
            <a:solidFill>
              <a:srgbClr val="1B5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19" y="1856231"/>
            <a:ext cx="658368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IN" sz="1400" err="1">
                <a:solidFill>
                  <a:srgbClr val="1F2937"/>
                </a:solidFill>
                <a:latin typeface="Consolas"/>
              </a:rPr>
              <a:t>df</a:t>
            </a:r>
            <a:r>
              <a:rPr lang="en-IN" sz="1400">
                <a:solidFill>
                  <a:srgbClr val="1F2937"/>
                </a:solidFill>
                <a:latin typeface="Consolas"/>
              </a:rPr>
              <a:t>["salary_avg_inr"] = (</a:t>
            </a:r>
            <a:r>
              <a:rPr lang="en-IN" sz="1400" err="1">
                <a:solidFill>
                  <a:srgbClr val="1F2937"/>
                </a:solidFill>
                <a:latin typeface="Consolas"/>
              </a:rPr>
              <a:t>df</a:t>
            </a:r>
            <a:r>
              <a:rPr lang="en-IN" sz="1400">
                <a:solidFill>
                  <a:srgbClr val="1F2937"/>
                </a:solidFill>
                <a:latin typeface="Consolas"/>
              </a:rPr>
              <a:t>["</a:t>
            </a:r>
            <a:r>
              <a:rPr lang="en-IN" sz="1400" err="1">
                <a:solidFill>
                  <a:srgbClr val="1F2937"/>
                </a:solidFill>
                <a:latin typeface="Consolas"/>
              </a:rPr>
              <a:t>salary_min_inr</a:t>
            </a:r>
            <a:r>
              <a:rPr lang="en-IN" sz="1400">
                <a:solidFill>
                  <a:srgbClr val="1F2937"/>
                </a:solidFill>
                <a:latin typeface="Consolas"/>
              </a:rPr>
              <a:t>"]</a:t>
            </a:r>
          </a:p>
          <a:p>
            <a:pPr>
              <a:spcAft>
                <a:spcPts val="0"/>
              </a:spcAft>
            </a:pPr>
            <a:r>
              <a:rPr lang="en-IN" sz="1400">
                <a:solidFill>
                  <a:srgbClr val="1F2937"/>
                </a:solidFill>
                <a:latin typeface="Consolas"/>
              </a:rPr>
              <a:t>                        + </a:t>
            </a:r>
            <a:r>
              <a:rPr lang="en-IN" sz="1400" err="1">
                <a:solidFill>
                  <a:srgbClr val="1F2937"/>
                </a:solidFill>
                <a:latin typeface="Consolas"/>
              </a:rPr>
              <a:t>df</a:t>
            </a:r>
            <a:r>
              <a:rPr lang="en-IN" sz="1400">
                <a:solidFill>
                  <a:srgbClr val="1F2937"/>
                </a:solidFill>
                <a:latin typeface="Consolas"/>
              </a:rPr>
              <a:t>["salary_max_inr"]) / 2</a:t>
            </a:r>
          </a:p>
          <a:p>
            <a:pPr>
              <a:spcAft>
                <a:spcPts val="0"/>
              </a:spcAft>
            </a:pPr>
            <a:r>
              <a:rPr lang="en-IN" sz="1400" err="1">
                <a:solidFill>
                  <a:srgbClr val="1F2937"/>
                </a:solidFill>
                <a:latin typeface="Consolas"/>
              </a:rPr>
              <a:t>df</a:t>
            </a:r>
            <a:r>
              <a:rPr lang="en-IN" sz="1400">
                <a:solidFill>
                  <a:srgbClr val="1F2937"/>
                </a:solidFill>
                <a:latin typeface="Consolas"/>
              </a:rPr>
              <a:t>["</a:t>
            </a:r>
            <a:r>
              <a:rPr lang="en-IN" sz="1400" err="1">
                <a:solidFill>
                  <a:srgbClr val="1F2937"/>
                </a:solidFill>
                <a:latin typeface="Consolas"/>
              </a:rPr>
              <a:t>posting_month</a:t>
            </a:r>
            <a:r>
              <a:rPr lang="en-IN" sz="1400">
                <a:solidFill>
                  <a:srgbClr val="1F2937"/>
                </a:solidFill>
                <a:latin typeface="Consolas"/>
              </a:rPr>
              <a:t>"] = </a:t>
            </a:r>
            <a:r>
              <a:rPr lang="en-IN" sz="1400" err="1">
                <a:solidFill>
                  <a:srgbClr val="1F2937"/>
                </a:solidFill>
                <a:latin typeface="Consolas"/>
              </a:rPr>
              <a:t>pd.to_datetime</a:t>
            </a:r>
            <a:r>
              <a:rPr lang="en-IN" sz="1400">
                <a:solidFill>
                  <a:srgbClr val="1F2937"/>
                </a:solidFill>
                <a:latin typeface="Consolas"/>
              </a:rPr>
              <a:t>(</a:t>
            </a:r>
          </a:p>
          <a:p>
            <a:pPr>
              <a:spcAft>
                <a:spcPts val="0"/>
              </a:spcAft>
            </a:pPr>
            <a:r>
              <a:rPr lang="en-IN" sz="1400">
                <a:solidFill>
                  <a:srgbClr val="1F2937"/>
                </a:solidFill>
                <a:latin typeface="Consolas"/>
              </a:rPr>
              <a:t>    </a:t>
            </a:r>
            <a:r>
              <a:rPr lang="en-IN" sz="1400" err="1">
                <a:solidFill>
                  <a:srgbClr val="1F2937"/>
                </a:solidFill>
                <a:latin typeface="Consolas"/>
              </a:rPr>
              <a:t>df</a:t>
            </a:r>
            <a:r>
              <a:rPr lang="en-IN" sz="1400">
                <a:solidFill>
                  <a:srgbClr val="1F2937"/>
                </a:solidFill>
                <a:latin typeface="Consolas"/>
              </a:rPr>
              <a:t>["</a:t>
            </a:r>
            <a:r>
              <a:rPr lang="en-IN" sz="1400" err="1">
                <a:solidFill>
                  <a:srgbClr val="1F2937"/>
                </a:solidFill>
                <a:latin typeface="Consolas"/>
              </a:rPr>
              <a:t>posting_date</a:t>
            </a:r>
            <a:r>
              <a:rPr lang="en-IN" sz="1400">
                <a:solidFill>
                  <a:srgbClr val="1F2937"/>
                </a:solidFill>
                <a:latin typeface="Consolas"/>
              </a:rPr>
              <a:t>"], errors="coerce"</a:t>
            </a:r>
          </a:p>
          <a:p>
            <a:pPr>
              <a:spcAft>
                <a:spcPts val="0"/>
              </a:spcAft>
            </a:pPr>
            <a:r>
              <a:rPr lang="en-IN" sz="1400">
                <a:solidFill>
                  <a:srgbClr val="1F2937"/>
                </a:solidFill>
                <a:latin typeface="Consolas"/>
              </a:rPr>
              <a:t>).</a:t>
            </a:r>
            <a:r>
              <a:rPr lang="en-IN" sz="1400" err="1">
                <a:solidFill>
                  <a:srgbClr val="1F2937"/>
                </a:solidFill>
                <a:latin typeface="Consolas"/>
              </a:rPr>
              <a:t>dt.to_period</a:t>
            </a:r>
            <a:r>
              <a:rPr lang="en-IN" sz="1400">
                <a:solidFill>
                  <a:srgbClr val="1F2937"/>
                </a:solidFill>
                <a:latin typeface="Consolas"/>
              </a:rPr>
              <a:t>("M").</a:t>
            </a:r>
            <a:r>
              <a:rPr lang="en-IN" sz="1400" err="1">
                <a:solidFill>
                  <a:srgbClr val="1F2937"/>
                </a:solidFill>
                <a:latin typeface="Consolas"/>
              </a:rPr>
              <a:t>astype</a:t>
            </a:r>
            <a:r>
              <a:rPr lang="en-IN" sz="1400">
                <a:solidFill>
                  <a:srgbClr val="1F2937"/>
                </a:solidFill>
                <a:latin typeface="Consolas"/>
              </a:rPr>
              <a:t>(str)</a:t>
            </a:r>
          </a:p>
          <a:p>
            <a:pPr>
              <a:spcAft>
                <a:spcPts val="0"/>
              </a:spcAft>
            </a:pPr>
            <a:endParaRPr lang="en-IN" sz="1400">
              <a:solidFill>
                <a:srgbClr val="1F2937"/>
              </a:solidFill>
              <a:latin typeface="Consolas"/>
            </a:endParaRPr>
          </a:p>
          <a:p>
            <a:pPr>
              <a:spcAft>
                <a:spcPts val="0"/>
              </a:spcAft>
            </a:pPr>
            <a:r>
              <a:rPr lang="en-IN" sz="1400">
                <a:solidFill>
                  <a:srgbClr val="1F2937"/>
                </a:solidFill>
                <a:latin typeface="Consolas"/>
              </a:rPr>
              <a:t>s = </a:t>
            </a:r>
            <a:r>
              <a:rPr lang="en-IN" sz="1400" err="1">
                <a:solidFill>
                  <a:srgbClr val="1F2937"/>
                </a:solidFill>
                <a:latin typeface="Consolas"/>
              </a:rPr>
              <a:t>df</a:t>
            </a:r>
            <a:r>
              <a:rPr lang="en-IN" sz="1400">
                <a:solidFill>
                  <a:srgbClr val="1F2937"/>
                </a:solidFill>
                <a:latin typeface="Consolas"/>
              </a:rPr>
              <a:t>["salary_avg_inr"].</a:t>
            </a:r>
            <a:r>
              <a:rPr lang="en-IN" sz="1400" err="1">
                <a:solidFill>
                  <a:srgbClr val="1F2937"/>
                </a:solidFill>
                <a:latin typeface="Consolas"/>
              </a:rPr>
              <a:t>to_numpy</a:t>
            </a:r>
            <a:r>
              <a:rPr lang="en-IN" sz="1400">
                <a:solidFill>
                  <a:srgbClr val="1F2937"/>
                </a:solidFill>
                <a:latin typeface="Consolas"/>
              </a:rPr>
              <a:t>()</a:t>
            </a:r>
          </a:p>
          <a:p>
            <a:pPr>
              <a:spcAft>
                <a:spcPts val="0"/>
              </a:spcAft>
            </a:pPr>
            <a:r>
              <a:rPr lang="en-IN" sz="1400">
                <a:solidFill>
                  <a:srgbClr val="1F2937"/>
                </a:solidFill>
                <a:latin typeface="Consolas"/>
              </a:rPr>
              <a:t>print(</a:t>
            </a:r>
            <a:r>
              <a:rPr lang="en-IN" sz="1400" err="1">
                <a:solidFill>
                  <a:srgbClr val="1F2937"/>
                </a:solidFill>
                <a:latin typeface="Consolas"/>
              </a:rPr>
              <a:t>f"Mean</a:t>
            </a:r>
            <a:r>
              <a:rPr lang="en-IN" sz="1400">
                <a:solidFill>
                  <a:srgbClr val="1F2937"/>
                </a:solidFill>
                <a:latin typeface="Consolas"/>
              </a:rPr>
              <a:t> {</a:t>
            </a:r>
            <a:r>
              <a:rPr lang="en-IN" sz="1400" err="1">
                <a:solidFill>
                  <a:srgbClr val="1F2937"/>
                </a:solidFill>
                <a:latin typeface="Consolas"/>
              </a:rPr>
              <a:t>np.mean</a:t>
            </a:r>
            <a:r>
              <a:rPr lang="en-IN" sz="1400">
                <a:solidFill>
                  <a:srgbClr val="1F2937"/>
                </a:solidFill>
                <a:latin typeface="Consolas"/>
              </a:rPr>
              <a:t>(s):,.0f} | "</a:t>
            </a:r>
          </a:p>
          <a:p>
            <a:pPr>
              <a:spcAft>
                <a:spcPts val="0"/>
              </a:spcAft>
            </a:pPr>
            <a:r>
              <a:rPr lang="en-IN" sz="1400">
                <a:solidFill>
                  <a:srgbClr val="1F2937"/>
                </a:solidFill>
                <a:latin typeface="Consolas"/>
              </a:rPr>
              <a:t>      </a:t>
            </a:r>
            <a:r>
              <a:rPr lang="en-IN" sz="1400" err="1">
                <a:solidFill>
                  <a:srgbClr val="1F2937"/>
                </a:solidFill>
                <a:latin typeface="Consolas"/>
              </a:rPr>
              <a:t>f"Median</a:t>
            </a:r>
            <a:r>
              <a:rPr lang="en-IN" sz="1400">
                <a:solidFill>
                  <a:srgbClr val="1F2937"/>
                </a:solidFill>
                <a:latin typeface="Consolas"/>
              </a:rPr>
              <a:t> {</a:t>
            </a:r>
            <a:r>
              <a:rPr lang="en-IN" sz="1400" err="1">
                <a:solidFill>
                  <a:srgbClr val="1F2937"/>
                </a:solidFill>
                <a:latin typeface="Consolas"/>
              </a:rPr>
              <a:t>np.median</a:t>
            </a:r>
            <a:r>
              <a:rPr lang="en-IN" sz="1400">
                <a:solidFill>
                  <a:srgbClr val="1F2937"/>
                </a:solidFill>
                <a:latin typeface="Consolas"/>
              </a:rPr>
              <a:t>(s):,.0f} | "</a:t>
            </a:r>
          </a:p>
          <a:p>
            <a:pPr>
              <a:spcAft>
                <a:spcPts val="0"/>
              </a:spcAft>
            </a:pPr>
            <a:r>
              <a:rPr lang="en-IN" sz="1400">
                <a:solidFill>
                  <a:srgbClr val="1F2937"/>
                </a:solidFill>
                <a:latin typeface="Consolas"/>
              </a:rPr>
              <a:t>      </a:t>
            </a:r>
            <a:r>
              <a:rPr lang="en-IN" sz="1400" err="1">
                <a:solidFill>
                  <a:srgbClr val="1F2937"/>
                </a:solidFill>
                <a:latin typeface="Consolas"/>
              </a:rPr>
              <a:t>f"Std</a:t>
            </a:r>
            <a:r>
              <a:rPr lang="en-IN" sz="1400">
                <a:solidFill>
                  <a:srgbClr val="1F2937"/>
                </a:solidFill>
                <a:latin typeface="Consolas"/>
              </a:rPr>
              <a:t> {</a:t>
            </a:r>
            <a:r>
              <a:rPr lang="en-IN" sz="1400" err="1">
                <a:solidFill>
                  <a:srgbClr val="1F2937"/>
                </a:solidFill>
                <a:latin typeface="Consolas"/>
              </a:rPr>
              <a:t>np.std</a:t>
            </a:r>
            <a:r>
              <a:rPr lang="en-IN" sz="1400">
                <a:solidFill>
                  <a:srgbClr val="1F2937"/>
                </a:solidFill>
                <a:latin typeface="Consolas"/>
              </a:rPr>
              <a:t>(s):,.0f} | ...")</a:t>
            </a:r>
          </a:p>
          <a:p>
            <a:pPr>
              <a:spcAft>
                <a:spcPts val="0"/>
              </a:spcAft>
            </a:pPr>
            <a:r>
              <a:rPr lang="en-IN" sz="1400">
                <a:solidFill>
                  <a:srgbClr val="1F2937"/>
                </a:solidFill>
                <a:latin typeface="Consolas"/>
              </a:rPr>
              <a:t># 25th / 75th: </a:t>
            </a:r>
            <a:r>
              <a:rPr lang="en-IN" sz="1400" err="1">
                <a:solidFill>
                  <a:srgbClr val="1F2937"/>
                </a:solidFill>
                <a:latin typeface="Consolas"/>
              </a:rPr>
              <a:t>np.percentile</a:t>
            </a:r>
            <a:r>
              <a:rPr lang="en-IN" sz="1400">
                <a:solidFill>
                  <a:srgbClr val="1F2937"/>
                </a:solidFill>
                <a:latin typeface="Consolas"/>
              </a:rPr>
              <a:t>(s, 25), </a:t>
            </a:r>
            <a:r>
              <a:rPr lang="en-IN" sz="1400" err="1">
                <a:solidFill>
                  <a:srgbClr val="1F2937"/>
                </a:solidFill>
                <a:latin typeface="Consolas"/>
              </a:rPr>
              <a:t>np.percentile</a:t>
            </a:r>
            <a:r>
              <a:rPr lang="en-IN" sz="1400">
                <a:solidFill>
                  <a:srgbClr val="1F2937"/>
                </a:solidFill>
                <a:latin typeface="Consolas"/>
              </a:rPr>
              <a:t>(s, 75)</a:t>
            </a:r>
          </a:p>
          <a:p>
            <a:pPr>
              <a:spcAft>
                <a:spcPts val="0"/>
              </a:spcAft>
            </a:pPr>
            <a:endParaRPr sz="1400" b="0">
              <a:solidFill>
                <a:srgbClr val="1F2937"/>
              </a:solidFill>
              <a:latin typeface="Consola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80960" y="17830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B5E83"/>
                </a:solidFill>
              </a:rPr>
              <a:t>Output (terminal)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680960" y="2240280"/>
          <a:ext cx="40233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Statistic</a:t>
                      </a:r>
                    </a:p>
                  </a:txBody>
                  <a:tcPr anchor="ctr">
                    <a:solidFill>
                      <a:srgbClr val="1B5E8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Salary (INR)</a:t>
                      </a:r>
                    </a:p>
                  </a:txBody>
                  <a:tcPr anchor="ctr">
                    <a:solidFill>
                      <a:srgbClr val="1B5E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Mean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1,578,786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Median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1,404,553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Std deviation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782,150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25th percentile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893,208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75th percentile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</a:rPr>
                        <a:t>2,159,354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303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</a:rPr>
              <a:t>Two new columns are created: salary_avg_inr (used by the histogram, boxplot and tables) and posting_month (used by the line chart).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914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B5E83"/>
                </a:solidFill>
              </a:rPr>
              <a:t>Code: Filters and Sorted Tables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83080"/>
            <a:ext cx="6766560" cy="4480560"/>
          </a:xfrm>
          <a:prstGeom prst="rect">
            <a:avLst/>
          </a:prstGeom>
          <a:solidFill>
            <a:srgbClr val="F1F5F9"/>
          </a:solidFill>
          <a:ln>
            <a:solidFill>
              <a:srgbClr val="1B5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856232"/>
            <a:ext cx="6583680" cy="4334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Consolas"/>
              </a:rPr>
              <a:t>if level != "Any":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Consolas"/>
              </a:rPr>
              <a:t>    </a:t>
            </a:r>
            <a:r>
              <a:rPr sz="1400" b="0" err="1">
                <a:solidFill>
                  <a:srgbClr val="1F2937"/>
                </a:solidFill>
                <a:latin typeface="Consolas"/>
              </a:rPr>
              <a:t>df</a:t>
            </a:r>
            <a:r>
              <a:rPr sz="1400" b="0">
                <a:solidFill>
                  <a:srgbClr val="1F2937"/>
                </a:solidFill>
                <a:latin typeface="Consolas"/>
              </a:rPr>
              <a:t> = </a:t>
            </a:r>
            <a:r>
              <a:rPr sz="1400" b="0" err="1">
                <a:solidFill>
                  <a:srgbClr val="1F2937"/>
                </a:solidFill>
                <a:latin typeface="Consolas"/>
              </a:rPr>
              <a:t>df</a:t>
            </a:r>
            <a:r>
              <a:rPr sz="1400" b="0">
                <a:solidFill>
                  <a:srgbClr val="1F2937"/>
                </a:solidFill>
                <a:latin typeface="Consolas"/>
              </a:rPr>
              <a:t>[</a:t>
            </a:r>
            <a:r>
              <a:rPr sz="1400" b="0" err="1">
                <a:solidFill>
                  <a:srgbClr val="1F2937"/>
                </a:solidFill>
                <a:latin typeface="Consolas"/>
              </a:rPr>
              <a:t>df</a:t>
            </a:r>
            <a:r>
              <a:rPr sz="1400" b="0">
                <a:solidFill>
                  <a:srgbClr val="1F2937"/>
                </a:solidFill>
                <a:latin typeface="Consolas"/>
              </a:rPr>
              <a:t>["</a:t>
            </a:r>
            <a:r>
              <a:rPr sz="1400" b="0" err="1">
                <a:solidFill>
                  <a:srgbClr val="1F2937"/>
                </a:solidFill>
                <a:latin typeface="Consolas"/>
              </a:rPr>
              <a:t>experience_level</a:t>
            </a:r>
            <a:r>
              <a:rPr sz="1400" b="0">
                <a:solidFill>
                  <a:srgbClr val="1F2937"/>
                </a:solidFill>
                <a:latin typeface="Consolas"/>
              </a:rPr>
              <a:t>"] == level]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Consolas"/>
              </a:rPr>
              <a:t>if </a:t>
            </a:r>
            <a:r>
              <a:rPr sz="1400" b="0" err="1">
                <a:solidFill>
                  <a:srgbClr val="1F2937"/>
                </a:solidFill>
                <a:latin typeface="Consolas"/>
              </a:rPr>
              <a:t>skill.strip</a:t>
            </a:r>
            <a:r>
              <a:rPr sz="1400" b="0">
                <a:solidFill>
                  <a:srgbClr val="1F2937"/>
                </a:solidFill>
                <a:latin typeface="Consolas"/>
              </a:rPr>
              <a:t>():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Consolas"/>
              </a:rPr>
              <a:t>    </a:t>
            </a:r>
            <a:r>
              <a:rPr sz="1400" b="0" err="1">
                <a:solidFill>
                  <a:srgbClr val="1F2937"/>
                </a:solidFill>
                <a:latin typeface="Consolas"/>
              </a:rPr>
              <a:t>df</a:t>
            </a:r>
            <a:r>
              <a:rPr sz="1400" b="0">
                <a:solidFill>
                  <a:srgbClr val="1F2937"/>
                </a:solidFill>
                <a:latin typeface="Consolas"/>
              </a:rPr>
              <a:t> = </a:t>
            </a:r>
            <a:r>
              <a:rPr sz="1400" b="0" err="1">
                <a:solidFill>
                  <a:srgbClr val="1F2937"/>
                </a:solidFill>
                <a:latin typeface="Consolas"/>
              </a:rPr>
              <a:t>df</a:t>
            </a:r>
            <a:r>
              <a:rPr sz="1400" b="0">
                <a:solidFill>
                  <a:srgbClr val="1F2937"/>
                </a:solidFill>
                <a:latin typeface="Consolas"/>
              </a:rPr>
              <a:t>[</a:t>
            </a:r>
            <a:r>
              <a:rPr sz="1400" b="0" err="1">
                <a:solidFill>
                  <a:srgbClr val="1F2937"/>
                </a:solidFill>
                <a:latin typeface="Consolas"/>
              </a:rPr>
              <a:t>df</a:t>
            </a:r>
            <a:r>
              <a:rPr sz="1400" b="0">
                <a:solidFill>
                  <a:srgbClr val="1F2937"/>
                </a:solidFill>
                <a:latin typeface="Consolas"/>
              </a:rPr>
              <a:t>["</a:t>
            </a:r>
            <a:r>
              <a:rPr sz="1400" b="0" err="1">
                <a:solidFill>
                  <a:srgbClr val="1F2937"/>
                </a:solidFill>
                <a:latin typeface="Consolas"/>
              </a:rPr>
              <a:t>required_skills</a:t>
            </a:r>
            <a:r>
              <a:rPr sz="1400" b="0">
                <a:solidFill>
                  <a:srgbClr val="1F2937"/>
                </a:solidFill>
                <a:latin typeface="Consolas"/>
              </a:rPr>
              <a:t>"].</a:t>
            </a:r>
            <a:r>
              <a:rPr sz="1400" b="0" err="1">
                <a:solidFill>
                  <a:srgbClr val="1F2937"/>
                </a:solidFill>
                <a:latin typeface="Consolas"/>
              </a:rPr>
              <a:t>str.contains</a:t>
            </a:r>
            <a:r>
              <a:rPr sz="1400" b="0">
                <a:solidFill>
                  <a:srgbClr val="1F2937"/>
                </a:solidFill>
                <a:latin typeface="Consolas"/>
              </a:rPr>
              <a:t>(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Consolas"/>
              </a:rPr>
              <a:t>        </a:t>
            </a:r>
            <a:r>
              <a:rPr sz="1400" b="0" err="1">
                <a:solidFill>
                  <a:srgbClr val="1F2937"/>
                </a:solidFill>
                <a:latin typeface="Consolas"/>
              </a:rPr>
              <a:t>skill.strip</a:t>
            </a:r>
            <a:r>
              <a:rPr sz="1400" b="0">
                <a:solidFill>
                  <a:srgbClr val="1F2937"/>
                </a:solidFill>
                <a:latin typeface="Consolas"/>
              </a:rPr>
              <a:t>(), case=False)]</a:t>
            </a:r>
          </a:p>
          <a:p>
            <a:pPr>
              <a:spcAft>
                <a:spcPts val="0"/>
              </a:spcAft>
            </a:pPr>
            <a:endParaRPr sz="1400" b="0">
              <a:solidFill>
                <a:srgbClr val="1F2937"/>
              </a:solidFill>
              <a:latin typeface="Consolas"/>
            </a:endParaRP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Consolas"/>
              </a:rPr>
              <a:t>companies = </a:t>
            </a:r>
            <a:r>
              <a:rPr sz="1400" b="0" err="1">
                <a:solidFill>
                  <a:srgbClr val="1F2937"/>
                </a:solidFill>
                <a:latin typeface="Consolas"/>
              </a:rPr>
              <a:t>df.groupby</a:t>
            </a:r>
            <a:r>
              <a:rPr sz="1400" b="0">
                <a:solidFill>
                  <a:srgbClr val="1F2937"/>
                </a:solidFill>
                <a:latin typeface="Consolas"/>
              </a:rPr>
              <a:t>("company").</a:t>
            </a:r>
            <a:r>
              <a:rPr sz="1400" b="0" err="1">
                <a:solidFill>
                  <a:srgbClr val="1F2937"/>
                </a:solidFill>
                <a:latin typeface="Consolas"/>
              </a:rPr>
              <a:t>agg</a:t>
            </a:r>
            <a:r>
              <a:rPr sz="1400" b="0">
                <a:solidFill>
                  <a:srgbClr val="1F2937"/>
                </a:solidFill>
                <a:latin typeface="Consolas"/>
              </a:rPr>
              <a:t>(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Consolas"/>
              </a:rPr>
              <a:t>    openings=("</a:t>
            </a:r>
            <a:r>
              <a:rPr sz="1400" b="0" err="1">
                <a:solidFill>
                  <a:srgbClr val="1F2937"/>
                </a:solidFill>
                <a:latin typeface="Consolas"/>
              </a:rPr>
              <a:t>job_id</a:t>
            </a:r>
            <a:r>
              <a:rPr sz="1400" b="0">
                <a:solidFill>
                  <a:srgbClr val="1F2937"/>
                </a:solidFill>
                <a:latin typeface="Consolas"/>
              </a:rPr>
              <a:t>", "count"),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Consolas"/>
              </a:rPr>
              <a:t>    </a:t>
            </a:r>
            <a:r>
              <a:rPr sz="1400" b="0" err="1">
                <a:solidFill>
                  <a:srgbClr val="1F2937"/>
                </a:solidFill>
                <a:latin typeface="Consolas"/>
              </a:rPr>
              <a:t>avg_salary</a:t>
            </a:r>
            <a:r>
              <a:rPr sz="1400" b="0">
                <a:solidFill>
                  <a:srgbClr val="1F2937"/>
                </a:solidFill>
                <a:latin typeface="Consolas"/>
              </a:rPr>
              <a:t>=("</a:t>
            </a:r>
            <a:r>
              <a:rPr sz="1400" b="0" err="1">
                <a:solidFill>
                  <a:srgbClr val="1F2937"/>
                </a:solidFill>
                <a:latin typeface="Consolas"/>
              </a:rPr>
              <a:t>salary_avg_inr</a:t>
            </a:r>
            <a:r>
              <a:rPr sz="1400" b="0">
                <a:solidFill>
                  <a:srgbClr val="1F2937"/>
                </a:solidFill>
                <a:latin typeface="Consolas"/>
              </a:rPr>
              <a:t>", "mean"),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Consolas"/>
              </a:rPr>
              <a:t>    </a:t>
            </a:r>
            <a:r>
              <a:rPr sz="1400" b="0" err="1">
                <a:solidFill>
                  <a:srgbClr val="1F2937"/>
                </a:solidFill>
                <a:latin typeface="Consolas"/>
              </a:rPr>
              <a:t>max_salary</a:t>
            </a:r>
            <a:r>
              <a:rPr sz="1400" b="0">
                <a:solidFill>
                  <a:srgbClr val="1F2937"/>
                </a:solidFill>
                <a:latin typeface="Consolas"/>
              </a:rPr>
              <a:t>=("</a:t>
            </a:r>
            <a:r>
              <a:rPr sz="1400" b="0" err="1">
                <a:solidFill>
                  <a:srgbClr val="1F2937"/>
                </a:solidFill>
                <a:latin typeface="Consolas"/>
              </a:rPr>
              <a:t>salary_max_inr</a:t>
            </a:r>
            <a:r>
              <a:rPr sz="1400" b="0">
                <a:solidFill>
                  <a:srgbClr val="1F2937"/>
                </a:solidFill>
                <a:latin typeface="Consolas"/>
              </a:rPr>
              <a:t>", "max")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Consolas"/>
              </a:rPr>
              <a:t>).round(0).</a:t>
            </a:r>
            <a:r>
              <a:rPr sz="1400" b="0" err="1">
                <a:solidFill>
                  <a:srgbClr val="1F2937"/>
                </a:solidFill>
                <a:latin typeface="Consolas"/>
              </a:rPr>
              <a:t>sort_values</a:t>
            </a:r>
            <a:r>
              <a:rPr sz="1400" b="0">
                <a:solidFill>
                  <a:srgbClr val="1F2937"/>
                </a:solidFill>
                <a:latin typeface="Consolas"/>
              </a:rPr>
              <a:t>("openings", ascending=False)</a:t>
            </a:r>
          </a:p>
          <a:p>
            <a:pPr>
              <a:spcAft>
                <a:spcPts val="0"/>
              </a:spcAft>
            </a:pPr>
            <a:r>
              <a:rPr sz="1400" b="0" err="1">
                <a:solidFill>
                  <a:srgbClr val="1F2937"/>
                </a:solidFill>
                <a:latin typeface="Consolas"/>
              </a:rPr>
              <a:t>st.dataframe</a:t>
            </a:r>
            <a:r>
              <a:rPr sz="1400" b="0">
                <a:solidFill>
                  <a:srgbClr val="1F2937"/>
                </a:solidFill>
                <a:latin typeface="Consolas"/>
              </a:rPr>
              <a:t>(companies)</a:t>
            </a:r>
          </a:p>
          <a:p>
            <a:pPr>
              <a:spcAft>
                <a:spcPts val="0"/>
              </a:spcAft>
            </a:pPr>
            <a:endParaRPr sz="1400" b="0">
              <a:solidFill>
                <a:srgbClr val="1F2937"/>
              </a:solidFill>
              <a:latin typeface="Consolas"/>
            </a:endParaRPr>
          </a:p>
          <a:p>
            <a:pPr>
              <a:spcAft>
                <a:spcPts val="0"/>
              </a:spcAft>
            </a:pPr>
            <a:r>
              <a:rPr sz="1400" b="0" err="1">
                <a:solidFill>
                  <a:srgbClr val="1F2937"/>
                </a:solidFill>
                <a:latin typeface="Consolas"/>
              </a:rPr>
              <a:t>st.dataframe</a:t>
            </a:r>
            <a:r>
              <a:rPr sz="1400" b="0">
                <a:solidFill>
                  <a:srgbClr val="1F2937"/>
                </a:solidFill>
                <a:latin typeface="Consolas"/>
              </a:rPr>
              <a:t>(</a:t>
            </a:r>
            <a:r>
              <a:rPr sz="1400" b="0" err="1">
                <a:solidFill>
                  <a:srgbClr val="1F2937"/>
                </a:solidFill>
                <a:latin typeface="Consolas"/>
              </a:rPr>
              <a:t>df.sort_values</a:t>
            </a:r>
            <a:r>
              <a:rPr sz="1400" b="0">
                <a:solidFill>
                  <a:srgbClr val="1F2937"/>
                </a:solidFill>
                <a:latin typeface="Consolas"/>
              </a:rPr>
              <a:t>(</a:t>
            </a:r>
            <a:r>
              <a:rPr sz="1400" b="0" err="1">
                <a:solidFill>
                  <a:srgbClr val="1F2937"/>
                </a:solidFill>
                <a:latin typeface="Consolas"/>
              </a:rPr>
              <a:t>sort_by</a:t>
            </a:r>
            <a:r>
              <a:rPr sz="1400" b="0">
                <a:solidFill>
                  <a:srgbClr val="1F2937"/>
                </a:solidFill>
                <a:latin typeface="Consolas"/>
              </a:rPr>
              <a:t>,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1F2937"/>
                </a:solidFill>
                <a:latin typeface="Consolas"/>
              </a:rPr>
              <a:t>    ascending=not </a:t>
            </a:r>
            <a:r>
              <a:rPr sz="1400" b="0" err="1">
                <a:solidFill>
                  <a:srgbClr val="1F2937"/>
                </a:solidFill>
                <a:latin typeface="Consolas"/>
              </a:rPr>
              <a:t>high_first</a:t>
            </a:r>
            <a:r>
              <a:rPr sz="1400" b="0">
                <a:solidFill>
                  <a:srgbClr val="1F2937"/>
                </a:solidFill>
                <a:latin typeface="Consolas"/>
              </a:rPr>
              <a:t>)[cols])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178308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B5E83"/>
                </a:solidFill>
              </a:rPr>
              <a:t>Output: Mid Level + Python (1,328 openings)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680960" y="2514600"/>
          <a:ext cx="402336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Company</a:t>
                      </a:r>
                    </a:p>
                  </a:txBody>
                  <a:tcPr anchor="ctr">
                    <a:solidFill>
                      <a:srgbClr val="1B5E8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Openings</a:t>
                      </a:r>
                    </a:p>
                  </a:txBody>
                  <a:tcPr anchor="ctr">
                    <a:solidFill>
                      <a:srgbClr val="1B5E8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Avg salary</a:t>
                      </a:r>
                    </a:p>
                  </a:txBody>
                  <a:tcPr anchor="ctr">
                    <a:solidFill>
                      <a:srgbClr val="1B5E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Salesforce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1,191,388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Zoho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71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1,175,619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Oracle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1,170,901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Tech Mahindra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65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</a:rPr>
                        <a:t>1,174,805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914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B5E83"/>
                </a:solidFill>
              </a:rPr>
              <a:t>Visualization and Analytical Outputs</a:t>
            </a:r>
          </a:p>
        </p:txBody>
      </p:sp>
      <p:pic>
        <p:nvPicPr>
          <p:cNvPr id="4" name="Picture 3" descr="cha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28800"/>
            <a:ext cx="6583680" cy="335169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498079" y="1828800"/>
            <a:ext cx="4114800" cy="4297680"/>
          </a:xfrm>
          <a:prstGeom prst="rect">
            <a:avLst/>
          </a:prstGeom>
          <a:solidFill>
            <a:srgbClr val="F1F5F9"/>
          </a:solidFill>
          <a:ln>
            <a:solidFill>
              <a:srgbClr val="1B5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35240" y="1938528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1B5E83"/>
                </a:solidFill>
              </a:rPr>
              <a:t>Charts included in the project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Bar chart: top skills by openings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Pie chart: openings by experience level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Histogram: salary distribution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Boxplot: salary range by level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Line chart: openings over time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Scatter plot: min vs max salary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</a:rPr>
              <a:t>Charts reveal in-demand skills, pay gaps, trends and outliers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914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B5E83"/>
                </a:solidFill>
              </a:rPr>
              <a:t>Relevant DAE Concepts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5212080" cy="1325880"/>
          </a:xfrm>
          <a:prstGeom prst="rect">
            <a:avLst/>
          </a:prstGeom>
          <a:solidFill>
            <a:srgbClr val="F1F5F9"/>
          </a:solidFill>
          <a:ln>
            <a:solidFill>
              <a:srgbClr val="1B5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938528"/>
            <a:ext cx="49377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B5E83"/>
                </a:solidFill>
              </a:rPr>
              <a:t>Data Collection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</a:rPr>
              <a:t>Loading 50,000 LinkedIn job postings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828800"/>
            <a:ext cx="5212080" cy="1325880"/>
          </a:xfrm>
          <a:prstGeom prst="rect">
            <a:avLst/>
          </a:prstGeom>
          <a:solidFill>
            <a:srgbClr val="F1F5F9"/>
          </a:solidFill>
          <a:ln>
            <a:solidFill>
              <a:srgbClr val="1B5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55080" y="1938528"/>
            <a:ext cx="49377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B5E83"/>
                </a:solidFill>
              </a:rPr>
              <a:t>Preprocessing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</a:rPr>
              <a:t>Cleaning, standardization and validation of salaries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337560"/>
            <a:ext cx="5212080" cy="1325880"/>
          </a:xfrm>
          <a:prstGeom prst="rect">
            <a:avLst/>
          </a:prstGeom>
          <a:solidFill>
            <a:srgbClr val="F1F5F9"/>
          </a:solidFill>
          <a:ln>
            <a:solidFill>
              <a:srgbClr val="1B5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3447288"/>
            <a:ext cx="49377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B5E83"/>
                </a:solidFill>
              </a:rPr>
              <a:t>Data Analysis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</a:rPr>
              <a:t>NumPy statistics and company comparison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3337560"/>
            <a:ext cx="5212080" cy="1325880"/>
          </a:xfrm>
          <a:prstGeom prst="rect">
            <a:avLst/>
          </a:prstGeom>
          <a:solidFill>
            <a:srgbClr val="F1F5F9"/>
          </a:solidFill>
          <a:ln>
            <a:solidFill>
              <a:srgbClr val="1B5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3447288"/>
            <a:ext cx="49377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B5E83"/>
                </a:solidFill>
              </a:rPr>
              <a:t>Visualization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</a:rPr>
              <a:t>Six charts reveal skills, levels and salaries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846320"/>
            <a:ext cx="5212080" cy="1325880"/>
          </a:xfrm>
          <a:prstGeom prst="rect">
            <a:avLst/>
          </a:prstGeom>
          <a:solidFill>
            <a:srgbClr val="F1F5F9"/>
          </a:solidFill>
          <a:ln>
            <a:solidFill>
              <a:srgbClr val="1B5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4956048"/>
            <a:ext cx="49377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B5E83"/>
                </a:solidFill>
              </a:rPr>
              <a:t>Insight Generation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</a:rPr>
              <a:t>Top skills, salary range, companies hiring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846320"/>
            <a:ext cx="5212080" cy="1325880"/>
          </a:xfrm>
          <a:prstGeom prst="rect">
            <a:avLst/>
          </a:prstGeom>
          <a:solidFill>
            <a:srgbClr val="F1F5F9"/>
          </a:solidFill>
          <a:ln>
            <a:solidFill>
              <a:srgbClr val="1B5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4956048"/>
            <a:ext cx="49377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B5E83"/>
                </a:solidFill>
              </a:rPr>
              <a:t>Trend Analysis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F2937"/>
                </a:solidFill>
              </a:rPr>
              <a:t>Openings over time, Jan 2025 to Aug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</a:rPr>
              <a:t>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914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B5E83"/>
                </a:solidFill>
              </a:rPr>
              <a:t>Programming Concepts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5120640" cy="1325880"/>
          </a:xfrm>
          <a:prstGeom prst="rect">
            <a:avLst/>
          </a:prstGeom>
          <a:solidFill>
            <a:srgbClr val="F1F5F9"/>
          </a:solidFill>
          <a:ln>
            <a:solidFill>
              <a:srgbClr val="1B5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1938528"/>
            <a:ext cx="4846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1B5E83"/>
                </a:solidFill>
              </a:rPr>
              <a:t>Functions and caching</a:t>
            </a:r>
          </a:p>
          <a:p>
            <a:pPr>
              <a:spcAft>
                <a:spcPts val="300"/>
              </a:spcAft>
            </a:pPr>
            <a:r>
              <a:rPr sz="1500" b="0">
                <a:solidFill>
                  <a:srgbClr val="1F2937"/>
                </a:solidFill>
              </a:rPr>
              <a:t>prepare() and show(), with @st.cache_data to avoid reloading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828800"/>
            <a:ext cx="5120640" cy="1325880"/>
          </a:xfrm>
          <a:prstGeom prst="rect">
            <a:avLst/>
          </a:prstGeom>
          <a:solidFill>
            <a:srgbClr val="F1F5F9"/>
          </a:solidFill>
          <a:ln>
            <a:solidFill>
              <a:srgbClr val="1B5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1938528"/>
            <a:ext cx="4846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1B5E83"/>
                </a:solidFill>
              </a:rPr>
              <a:t>Lists and comprehensions</a:t>
            </a:r>
          </a:p>
          <a:p>
            <a:pPr>
              <a:spcAft>
                <a:spcPts val="300"/>
              </a:spcAft>
            </a:pPr>
            <a:r>
              <a:rPr sz="1500" b="0">
                <a:solidFill>
                  <a:srgbClr val="1F2937"/>
                </a:solidFill>
              </a:rPr>
              <a:t>Splitting required_skills into a list for each job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337560"/>
            <a:ext cx="5120640" cy="1325880"/>
          </a:xfrm>
          <a:prstGeom prst="rect">
            <a:avLst/>
          </a:prstGeom>
          <a:solidFill>
            <a:srgbClr val="F1F5F9"/>
          </a:solidFill>
          <a:ln>
            <a:solidFill>
              <a:srgbClr val="1B5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3447288"/>
            <a:ext cx="4846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1B5E83"/>
                </a:solidFill>
              </a:rPr>
              <a:t>NumPy arrays</a:t>
            </a:r>
          </a:p>
          <a:p>
            <a:pPr>
              <a:spcAft>
                <a:spcPts val="300"/>
              </a:spcAft>
            </a:pPr>
            <a:r>
              <a:rPr sz="1500" b="0">
                <a:solidFill>
                  <a:srgbClr val="1F2937"/>
                </a:solidFill>
              </a:rPr>
              <a:t>np.minimum / np.maximum to fix salaries, np.percentile for statistics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3337560"/>
            <a:ext cx="5120640" cy="1325880"/>
          </a:xfrm>
          <a:prstGeom prst="rect">
            <a:avLst/>
          </a:prstGeom>
          <a:solidFill>
            <a:srgbClr val="F1F5F9"/>
          </a:solidFill>
          <a:ln>
            <a:solidFill>
              <a:srgbClr val="1B5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3447288"/>
            <a:ext cx="4846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1B5E83"/>
                </a:solidFill>
              </a:rPr>
              <a:t>Boolean filtering</a:t>
            </a:r>
          </a:p>
          <a:p>
            <a:pPr>
              <a:spcAft>
                <a:spcPts val="300"/>
              </a:spcAft>
            </a:pPr>
            <a:r>
              <a:rPr sz="1500" b="0">
                <a:solidFill>
                  <a:srgbClr val="1F2937"/>
                </a:solidFill>
              </a:rPr>
              <a:t>Pandas masks select rows by level and skill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846320"/>
            <a:ext cx="5120640" cy="1325880"/>
          </a:xfrm>
          <a:prstGeom prst="rect">
            <a:avLst/>
          </a:prstGeom>
          <a:solidFill>
            <a:srgbClr val="F1F5F9"/>
          </a:solidFill>
          <a:ln>
            <a:solidFill>
              <a:srgbClr val="1B5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4956048"/>
            <a:ext cx="4846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1B5E83"/>
                </a:solidFill>
              </a:rPr>
              <a:t>Lambda functions</a:t>
            </a:r>
          </a:p>
          <a:p>
            <a:pPr>
              <a:spcAft>
                <a:spcPts val="300"/>
              </a:spcAft>
            </a:pPr>
            <a:r>
              <a:rPr sz="1500" b="0">
                <a:solidFill>
                  <a:srgbClr val="1F2937"/>
                </a:solidFill>
              </a:rPr>
              <a:t>Chart-drawing code is passed into show() as a lambda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4846320"/>
            <a:ext cx="5120640" cy="1325880"/>
          </a:xfrm>
          <a:prstGeom prst="rect">
            <a:avLst/>
          </a:prstGeom>
          <a:solidFill>
            <a:srgbClr val="F1F5F9"/>
          </a:solidFill>
          <a:ln>
            <a:solidFill>
              <a:srgbClr val="1B5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4956048"/>
            <a:ext cx="4846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1B5E83"/>
                </a:solidFill>
              </a:rPr>
              <a:t>File handling</a:t>
            </a:r>
          </a:p>
          <a:p>
            <a:pPr>
              <a:spcAft>
                <a:spcPts val="300"/>
              </a:spcAft>
            </a:pPr>
            <a:r>
              <a:rPr sz="1500" b="0">
                <a:solidFill>
                  <a:srgbClr val="1F2937"/>
                </a:solidFill>
              </a:rPr>
              <a:t>os.makedirs and to_csv create the cleaned_data folder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</a:rPr>
              <a:t>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31520" y="91440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lang="en-IN" sz="3200" b="1">
                <a:solidFill>
                  <a:srgbClr val="1B5E83"/>
                </a:solidFill>
              </a:rPr>
              <a:t> </a:t>
            </a:r>
            <a:r>
              <a:rPr lang="en-IN" sz="3200" b="1" dirty="0">
                <a:solidFill>
                  <a:srgbClr val="1B5E83"/>
                </a:solidFill>
              </a:rPr>
              <a:t>Key Points</a:t>
            </a:r>
          </a:p>
        </p:txBody>
      </p:sp>
      <p:sp>
        <p:nvSpPr>
          <p:cNvPr id="3" name="Point 1"/>
          <p:cNvSpPr/>
          <p:nvPr/>
        </p:nvSpPr>
        <p:spPr>
          <a:xfrm>
            <a:off x="731520" y="1737360"/>
            <a:ext cx="106984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1B5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0" tIns="0" rIns="182880" bIns="0" rtlCol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en-IN" sz="1800" b="0" dirty="0">
                <a:solidFill>
                  <a:srgbClr val="1F2937"/>
                </a:solidFill>
              </a:rPr>
              <a:t>Show the completed modules: load, clean, transform, analyze, dashboard</a:t>
            </a:r>
          </a:p>
        </p:txBody>
      </p:sp>
      <p:sp>
        <p:nvSpPr>
          <p:cNvPr id="4" name="Number 1"/>
          <p:cNvSpPr/>
          <p:nvPr/>
        </p:nvSpPr>
        <p:spPr>
          <a:xfrm>
            <a:off x="868680" y="1805940"/>
            <a:ext cx="320040" cy="320040"/>
          </a:xfrm>
          <a:prstGeom prst="ellipse">
            <a:avLst/>
          </a:prstGeom>
          <a:solidFill>
            <a:srgbClr val="1B5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en-IN" sz="14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Point 2"/>
          <p:cNvSpPr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1B5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0" tIns="0" rIns="182880" bIns="0" rtlCol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en-IN" sz="1800" b="0" dirty="0">
                <a:solidFill>
                  <a:srgbClr val="1F2937"/>
                </a:solidFill>
              </a:rPr>
              <a:t>Show the cleaned data saved in the cleaned_data folder</a:t>
            </a:r>
          </a:p>
        </p:txBody>
      </p:sp>
      <p:sp>
        <p:nvSpPr>
          <p:cNvPr id="6" name="Number 2"/>
          <p:cNvSpPr/>
          <p:nvPr/>
        </p:nvSpPr>
        <p:spPr>
          <a:xfrm>
            <a:off x="868680" y="2354580"/>
            <a:ext cx="320040" cy="320040"/>
          </a:xfrm>
          <a:prstGeom prst="ellipse">
            <a:avLst/>
          </a:prstGeom>
          <a:solidFill>
            <a:srgbClr val="1B5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en-IN" sz="14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Point 3"/>
          <p:cNvSpPr/>
          <p:nvPr/>
        </p:nvSpPr>
        <p:spPr>
          <a:xfrm>
            <a:off x="731520" y="2834640"/>
            <a:ext cx="106984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1B5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0" tIns="0" rIns="182880" bIns="0" rtlCol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en-IN" sz="1800" b="0" dirty="0">
                <a:solidFill>
                  <a:srgbClr val="1F2937"/>
                </a:solidFill>
              </a:rPr>
              <a:t>Explain the main functions and libraries used</a:t>
            </a:r>
          </a:p>
        </p:txBody>
      </p:sp>
      <p:sp>
        <p:nvSpPr>
          <p:cNvPr id="8" name="Number 3"/>
          <p:cNvSpPr/>
          <p:nvPr/>
        </p:nvSpPr>
        <p:spPr>
          <a:xfrm>
            <a:off x="868680" y="2903220"/>
            <a:ext cx="320040" cy="320040"/>
          </a:xfrm>
          <a:prstGeom prst="ellipse">
            <a:avLst/>
          </a:prstGeom>
          <a:solidFill>
            <a:srgbClr val="1B5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en-IN" sz="14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Point 4"/>
          <p:cNvSpPr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1B5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0" tIns="0" rIns="182880" bIns="0" rtlCol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en-IN" sz="1800" b="0" dirty="0">
                <a:solidFill>
                  <a:srgbClr val="1F2937"/>
                </a:solidFill>
              </a:rPr>
              <a:t>Show salary statistics and company comparison</a:t>
            </a:r>
          </a:p>
        </p:txBody>
      </p:sp>
      <p:sp>
        <p:nvSpPr>
          <p:cNvPr id="10" name="Number 4"/>
          <p:cNvSpPr/>
          <p:nvPr/>
        </p:nvSpPr>
        <p:spPr>
          <a:xfrm>
            <a:off x="868680" y="3451860"/>
            <a:ext cx="320040" cy="320040"/>
          </a:xfrm>
          <a:prstGeom prst="ellipse">
            <a:avLst/>
          </a:prstGeom>
          <a:solidFill>
            <a:srgbClr val="1B5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en-IN" sz="14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1" name="Point 5"/>
          <p:cNvSpPr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1B5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0" tIns="0" rIns="182880" bIns="0" rtlCol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en-IN" sz="1800" b="0" dirty="0">
                <a:solidFill>
                  <a:srgbClr val="1F2937"/>
                </a:solidFill>
              </a:rPr>
              <a:t>Show the visualization outputs (six charts)</a:t>
            </a:r>
          </a:p>
        </p:txBody>
      </p:sp>
      <p:sp>
        <p:nvSpPr>
          <p:cNvPr id="12" name="Number 5"/>
          <p:cNvSpPr/>
          <p:nvPr/>
        </p:nvSpPr>
        <p:spPr>
          <a:xfrm>
            <a:off x="868680" y="4000500"/>
            <a:ext cx="320040" cy="320040"/>
          </a:xfrm>
          <a:prstGeom prst="ellipse">
            <a:avLst/>
          </a:prstGeom>
          <a:solidFill>
            <a:srgbClr val="1B5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en-IN" sz="14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3" name="Point 6"/>
          <p:cNvSpPr/>
          <p:nvPr/>
        </p:nvSpPr>
        <p:spPr>
          <a:xfrm>
            <a:off x="731520" y="4480560"/>
            <a:ext cx="106984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1B5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0" tIns="0" rIns="182880" bIns="0" rtlCol="0" anchor="ctr">
            <a:noAutofit/>
          </a:bodyPr>
          <a:lstStyle/>
          <a:p>
            <a:pPr algn="l">
              <a:spcAft>
                <a:spcPts val="0"/>
              </a:spcAft>
            </a:pPr>
            <a:r>
              <a:rPr lang="en-IN" sz="1800" b="0" dirty="0">
                <a:solidFill>
                  <a:srgbClr val="1F2937"/>
                </a:solidFill>
              </a:rPr>
              <a:t>Connect each step to a DAE concept</a:t>
            </a:r>
          </a:p>
        </p:txBody>
      </p:sp>
      <p:sp>
        <p:nvSpPr>
          <p:cNvPr id="14" name="Number 6"/>
          <p:cNvSpPr/>
          <p:nvPr/>
        </p:nvSpPr>
        <p:spPr>
          <a:xfrm>
            <a:off x="868680" y="4549140"/>
            <a:ext cx="320040" cy="320040"/>
          </a:xfrm>
          <a:prstGeom prst="ellipse">
            <a:avLst/>
          </a:prstGeom>
          <a:solidFill>
            <a:srgbClr val="1B5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en-IN" sz="1400" b="1" dirty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7" name="Flow strip"/>
          <p:cNvSpPr/>
          <p:nvPr/>
        </p:nvSpPr>
        <p:spPr>
          <a:xfrm>
            <a:off x="731520" y="5623560"/>
            <a:ext cx="10698480" cy="640080"/>
          </a:xfrm>
          <a:prstGeom prst="roundRect">
            <a:avLst>
              <a:gd name="adj" fmla="val 30000"/>
            </a:avLst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82880" bIns="9144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en-IN" sz="2000" b="1" dirty="0">
                <a:solidFill>
                  <a:srgbClr val="FFFFFF"/>
                </a:solidFill>
              </a:rPr>
              <a:t>LOAD  →  CLEAN  →  ANALYZE  →  VISUALIZE  →  INSIGHT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ank You"/>
          <p:cNvSpPr/>
          <p:nvPr/>
        </p:nvSpPr>
        <p:spPr>
          <a:xfrm>
            <a:off x="1981200" y="2286000"/>
            <a:ext cx="8229600" cy="22860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1B5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82880" bIns="9144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lang="en-IN" sz="6000" b="1" dirty="0">
                <a:solidFill>
                  <a:srgbClr val="1B5E83"/>
                </a:solidFill>
              </a:rPr>
              <a:t>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14EE3-5496-7B8C-B18E-94D50E1BC7D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272464" y="6376243"/>
            <a:ext cx="1081336" cy="365125"/>
          </a:xfrm>
        </p:spPr>
        <p:txBody>
          <a:bodyPr/>
          <a:lstStyle/>
          <a:p>
            <a:fld id="{326EF2E3-409D-4D76-AD02-397A36B0DAF9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8414</TotalTime>
  <Words>1787</Words>
  <Application>Microsoft Office PowerPoint</Application>
  <PresentationFormat>Widescreen</PresentationFormat>
  <Paragraphs>299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Consolas</vt:lpstr>
      <vt:lpstr>Tw Cen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Tammana Pramodh</cp:lastModifiedBy>
  <cp:revision>857</cp:revision>
  <cp:lastPrinted>2023-06-09T04:58:36Z</cp:lastPrinted>
  <dcterms:created xsi:type="dcterms:W3CDTF">2019-12-14T03:50:52Z</dcterms:created>
  <dcterms:modified xsi:type="dcterms:W3CDTF">2026-10-29T22:44:29Z</dcterms:modified>
</cp:coreProperties>
</file>